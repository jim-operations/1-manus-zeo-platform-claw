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9670"/>
            <a:ext cx="88225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FEBRUARY 2026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7561659" y="219670"/>
            <a:ext cx="115371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MANUS AI RESEARCH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1288749"/>
            <a:ext cx="4614863" cy="3394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1A20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ADMINISTRATIVE WORK OF ZONAL EDUCATION OFFICES IN SRI LANKA</a:t>
            </a:r>
            <a:endParaRPr lang="en-US" sz="3731" dirty="0"/>
          </a:p>
        </p:txBody>
      </p:sp>
      <p:sp>
        <p:nvSpPr>
          <p:cNvPr id="8" name="Shape 5"/>
          <p:cNvSpPr/>
          <p:nvPr/>
        </p:nvSpPr>
        <p:spPr>
          <a:xfrm>
            <a:off x="5486400" y="571500"/>
            <a:ext cx="3657600" cy="45720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6"/>
          <p:cNvSpPr/>
          <p:nvPr/>
        </p:nvSpPr>
        <p:spPr>
          <a:xfrm>
            <a:off x="5915025" y="2436019"/>
            <a:ext cx="28003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 COMPREHENSIVE OVERVIEW OF STRUCTURE, FUNCTIONS, AND REFORMS</a:t>
            </a:r>
            <a:endParaRPr lang="en-US" sz="1269" dirty="0"/>
          </a:p>
        </p:txBody>
      </p:sp>
      <p:sp>
        <p:nvSpPr>
          <p:cNvPr id="10" name="Text 7"/>
          <p:cNvSpPr/>
          <p:nvPr/>
        </p:nvSpPr>
        <p:spPr>
          <a:xfrm>
            <a:off x="5915025" y="3421856"/>
            <a:ext cx="2800350" cy="357188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BASED ON RESEARCH FROM MOE, ADB, WORLD BANK, UNESCO, AND NEC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9670"/>
            <a:ext cx="101798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 OVERVIEW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8579644" y="219670"/>
            <a:ext cx="1357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0" y="571500"/>
            <a:ext cx="2857500" cy="4572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5"/>
          <p:cNvSpPr/>
          <p:nvPr/>
        </p:nvSpPr>
        <p:spPr>
          <a:xfrm>
            <a:off x="2843213" y="571500"/>
            <a:ext cx="14288" cy="45720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571500"/>
            <a:ext cx="2843213" cy="4572000"/>
          </a:xfrm>
          <a:prstGeom prst="rect">
            <a:avLst/>
          </a:prstGeom>
          <a:solidFill>
            <a:srgbClr val="CBD5E0">
              <a:alpha val="3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71450" y="1000125"/>
            <a:ext cx="25146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SCALE &amp; SCOPE</a:t>
            </a: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171450" y="1255514"/>
            <a:ext cx="2514600" cy="1320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1A20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SRI LANKA'S PUBLIC EDUCATION SYSTEM</a:t>
            </a:r>
            <a:endParaRPr lang="en-US" sz="2121" dirty="0"/>
          </a:p>
        </p:txBody>
      </p:sp>
      <p:sp>
        <p:nvSpPr>
          <p:cNvPr id="12" name="Shape 9"/>
          <p:cNvSpPr/>
          <p:nvPr/>
        </p:nvSpPr>
        <p:spPr>
          <a:xfrm>
            <a:off x="171450" y="2718532"/>
            <a:ext cx="2514600" cy="853678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13" name="Shape 10"/>
          <p:cNvSpPr/>
          <p:nvPr/>
        </p:nvSpPr>
        <p:spPr>
          <a:xfrm>
            <a:off x="171450" y="2718532"/>
            <a:ext cx="42863" cy="853678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4" name="Text 11"/>
          <p:cNvSpPr/>
          <p:nvPr/>
        </p:nvSpPr>
        <p:spPr>
          <a:xfrm>
            <a:off x="285750" y="2832832"/>
            <a:ext cx="2286000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4.1M</a:t>
            </a:r>
            <a:endParaRPr lang="en-US" sz="2436" dirty="0"/>
          </a:p>
        </p:txBody>
      </p:sp>
      <p:sp>
        <p:nvSpPr>
          <p:cNvPr id="15" name="Text 12"/>
          <p:cNvSpPr/>
          <p:nvPr/>
        </p:nvSpPr>
        <p:spPr>
          <a:xfrm>
            <a:off x="285750" y="3325750"/>
            <a:ext cx="85010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5F7FA">
                    <a:alpha val="8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TOTAL STUDENTS</a:t>
            </a:r>
            <a:endParaRPr lang="en-US" sz="727" dirty="0"/>
          </a:p>
        </p:txBody>
      </p:sp>
      <p:sp>
        <p:nvSpPr>
          <p:cNvPr id="16" name="Shape 13"/>
          <p:cNvSpPr/>
          <p:nvPr/>
        </p:nvSpPr>
        <p:spPr>
          <a:xfrm>
            <a:off x="3071813" y="785813"/>
            <a:ext cx="2857500" cy="1209080"/>
          </a:xfrm>
          <a:prstGeom prst="rect">
            <a:avLst/>
          </a:prstGeom>
          <a:solidFill>
            <a:srgbClr val="FFFFFF"/>
          </a:solidFill>
          <a:ln w="9144">
            <a:solidFill>
              <a:srgbClr val="A0AEC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113" y="900113"/>
            <a:ext cx="214313" cy="1714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186113" y="1157288"/>
            <a:ext cx="262890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10,194</a:t>
            </a:r>
            <a:endParaRPr lang="en-US" sz="1602" dirty="0"/>
          </a:p>
        </p:txBody>
      </p:sp>
      <p:sp>
        <p:nvSpPr>
          <p:cNvPr id="19" name="Text 15"/>
          <p:cNvSpPr/>
          <p:nvPr/>
        </p:nvSpPr>
        <p:spPr>
          <a:xfrm>
            <a:off x="3186113" y="1494830"/>
            <a:ext cx="26289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GOVERNMENT SCHOOLS</a:t>
            </a:r>
            <a:endParaRPr lang="en-US" sz="784" dirty="0"/>
          </a:p>
        </p:txBody>
      </p:sp>
      <p:sp>
        <p:nvSpPr>
          <p:cNvPr id="20" name="Text 16"/>
          <p:cNvSpPr/>
          <p:nvPr/>
        </p:nvSpPr>
        <p:spPr>
          <a:xfrm>
            <a:off x="3186113" y="1689497"/>
            <a:ext cx="2628900" cy="176808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Island-wide network</a:t>
            </a:r>
            <a:endParaRPr lang="en-US" sz="621" dirty="0"/>
          </a:p>
        </p:txBody>
      </p:sp>
      <p:sp>
        <p:nvSpPr>
          <p:cNvPr id="21" name="Shape 17"/>
          <p:cNvSpPr/>
          <p:nvPr/>
        </p:nvSpPr>
        <p:spPr>
          <a:xfrm>
            <a:off x="6072188" y="785813"/>
            <a:ext cx="2857500" cy="1209080"/>
          </a:xfrm>
          <a:prstGeom prst="rect">
            <a:avLst/>
          </a:prstGeom>
          <a:solidFill>
            <a:srgbClr val="FFFFFF"/>
          </a:solidFill>
          <a:ln w="9144">
            <a:solidFill>
              <a:srgbClr val="A0AEC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488" y="900113"/>
            <a:ext cx="214313" cy="1714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86488" y="1157288"/>
            <a:ext cx="262890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241,018</a:t>
            </a:r>
            <a:endParaRPr lang="en-US" sz="1602" dirty="0"/>
          </a:p>
        </p:txBody>
      </p:sp>
      <p:sp>
        <p:nvSpPr>
          <p:cNvPr id="24" name="Text 19"/>
          <p:cNvSpPr/>
          <p:nvPr/>
        </p:nvSpPr>
        <p:spPr>
          <a:xfrm>
            <a:off x="6186488" y="1494830"/>
            <a:ext cx="26289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TEACHERS</a:t>
            </a:r>
            <a:endParaRPr lang="en-US" sz="784" dirty="0"/>
          </a:p>
        </p:txBody>
      </p:sp>
      <p:sp>
        <p:nvSpPr>
          <p:cNvPr id="25" name="Text 20"/>
          <p:cNvSpPr/>
          <p:nvPr/>
        </p:nvSpPr>
        <p:spPr>
          <a:xfrm>
            <a:off x="6186488" y="1689497"/>
            <a:ext cx="2628900" cy="176808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Public sector employees</a:t>
            </a:r>
            <a:endParaRPr lang="en-US" sz="621" dirty="0"/>
          </a:p>
        </p:txBody>
      </p:sp>
      <p:sp>
        <p:nvSpPr>
          <p:cNvPr id="26" name="Shape 21"/>
          <p:cNvSpPr/>
          <p:nvPr/>
        </p:nvSpPr>
        <p:spPr>
          <a:xfrm>
            <a:off x="3071813" y="2123480"/>
            <a:ext cx="2857500" cy="1209080"/>
          </a:xfrm>
          <a:prstGeom prst="rect">
            <a:avLst/>
          </a:prstGeom>
          <a:solidFill>
            <a:srgbClr val="FFFFFF"/>
          </a:solidFill>
          <a:ln w="9144">
            <a:solidFill>
              <a:srgbClr val="A0AEC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113" y="2237780"/>
            <a:ext cx="192881" cy="1714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186113" y="2494955"/>
            <a:ext cx="262890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99</a:t>
            </a:r>
            <a:endParaRPr lang="en-US" sz="1602" dirty="0"/>
          </a:p>
        </p:txBody>
      </p:sp>
      <p:sp>
        <p:nvSpPr>
          <p:cNvPr id="29" name="Text 23"/>
          <p:cNvSpPr/>
          <p:nvPr/>
        </p:nvSpPr>
        <p:spPr>
          <a:xfrm>
            <a:off x="3186113" y="2832497"/>
            <a:ext cx="26289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4A556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EDUCATION ZONES</a:t>
            </a:r>
            <a:endParaRPr lang="en-US" sz="784" dirty="0"/>
          </a:p>
        </p:txBody>
      </p:sp>
      <p:sp>
        <p:nvSpPr>
          <p:cNvPr id="30" name="Text 24"/>
          <p:cNvSpPr/>
          <p:nvPr/>
        </p:nvSpPr>
        <p:spPr>
          <a:xfrm>
            <a:off x="3186113" y="3027164"/>
            <a:ext cx="2628900" cy="176808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Across 25 Districts &amp; 9 Provinces</a:t>
            </a:r>
            <a:endParaRPr lang="en-US" sz="621" dirty="0"/>
          </a:p>
        </p:txBody>
      </p:sp>
      <p:sp>
        <p:nvSpPr>
          <p:cNvPr id="31" name="Shape 25"/>
          <p:cNvSpPr/>
          <p:nvPr/>
        </p:nvSpPr>
        <p:spPr>
          <a:xfrm>
            <a:off x="3071813" y="3461147"/>
            <a:ext cx="5857875" cy="1112639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2" name="Shape 26"/>
          <p:cNvSpPr/>
          <p:nvPr/>
        </p:nvSpPr>
        <p:spPr>
          <a:xfrm>
            <a:off x="3071813" y="3461147"/>
            <a:ext cx="28575" cy="1112639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6113" y="3575447"/>
            <a:ext cx="214313" cy="17145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186113" y="3832622"/>
            <a:ext cx="56292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DEVOLVED ADMINISTRATION</a:t>
            </a:r>
            <a:endParaRPr lang="en-US" sz="784" dirty="0"/>
          </a:p>
        </p:txBody>
      </p:sp>
      <p:sp>
        <p:nvSpPr>
          <p:cNvPr id="35" name="Text 28"/>
          <p:cNvSpPr/>
          <p:nvPr/>
        </p:nvSpPr>
        <p:spPr>
          <a:xfrm>
            <a:off x="3186113" y="4027289"/>
            <a:ext cx="56292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Shared via 13th Amendment (1987)</a:t>
            </a:r>
            <a:endParaRPr lang="en-US" sz="727" dirty="0"/>
          </a:p>
        </p:txBody>
      </p:sp>
      <p:sp>
        <p:nvSpPr>
          <p:cNvPr id="36" name="Text 29"/>
          <p:cNvSpPr/>
          <p:nvPr/>
        </p:nvSpPr>
        <p:spPr>
          <a:xfrm>
            <a:off x="3186113" y="4234458"/>
            <a:ext cx="41433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National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(MOE)</a:t>
            </a:r>
            <a:endParaRPr lang="en-US" sz="621" dirty="0"/>
          </a:p>
        </p:txBody>
      </p:sp>
      <p:sp>
        <p:nvSpPr>
          <p:cNvPr id="37" name="Text 30"/>
          <p:cNvSpPr/>
          <p:nvPr/>
        </p:nvSpPr>
        <p:spPr>
          <a:xfrm>
            <a:off x="4502795" y="4234458"/>
            <a:ext cx="517922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Provincial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(PDE)</a:t>
            </a:r>
            <a:endParaRPr lang="en-US" sz="621" dirty="0"/>
          </a:p>
        </p:txBody>
      </p:sp>
      <p:sp>
        <p:nvSpPr>
          <p:cNvPr id="38" name="Text 31"/>
          <p:cNvSpPr/>
          <p:nvPr/>
        </p:nvSpPr>
        <p:spPr>
          <a:xfrm>
            <a:off x="5923062" y="4234458"/>
            <a:ext cx="258961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Zonal</a:t>
            </a:r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(ZEO)</a:t>
            </a:r>
            <a:endParaRPr lang="en-US" sz="584" dirty="0"/>
          </a:p>
        </p:txBody>
      </p:sp>
      <p:sp>
        <p:nvSpPr>
          <p:cNvPr id="39" name="Text 32"/>
          <p:cNvSpPr/>
          <p:nvPr/>
        </p:nvSpPr>
        <p:spPr>
          <a:xfrm>
            <a:off x="7084368" y="4234458"/>
            <a:ext cx="517922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Divisional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(DEO)</a:t>
            </a:r>
            <a:endParaRPr lang="en-US" sz="621" dirty="0"/>
          </a:p>
        </p:txBody>
      </p:sp>
      <p:sp>
        <p:nvSpPr>
          <p:cNvPr id="40" name="Text 33"/>
          <p:cNvSpPr/>
          <p:nvPr/>
        </p:nvSpPr>
        <p:spPr>
          <a:xfrm>
            <a:off x="8504634" y="4234458"/>
            <a:ext cx="31075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School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Level</a:t>
            </a:r>
            <a:endParaRPr lang="en-US" sz="621" dirty="0"/>
          </a:p>
        </p:txBody>
      </p:sp>
      <p:sp>
        <p:nvSpPr>
          <p:cNvPr id="41" name="Text 34"/>
          <p:cNvSpPr/>
          <p:nvPr/>
        </p:nvSpPr>
        <p:spPr>
          <a:xfrm>
            <a:off x="3691868" y="4288929"/>
            <a:ext cx="5142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A0AE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→</a:t>
            </a:r>
            <a:endParaRPr lang="en-US" sz="621" dirty="0"/>
          </a:p>
        </p:txBody>
      </p:sp>
      <p:sp>
        <p:nvSpPr>
          <p:cNvPr id="42" name="Text 35"/>
          <p:cNvSpPr/>
          <p:nvPr/>
        </p:nvSpPr>
        <p:spPr>
          <a:xfrm>
            <a:off x="5112134" y="4288929"/>
            <a:ext cx="5142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A0AE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→</a:t>
            </a:r>
            <a:endParaRPr lang="en-US" sz="621" dirty="0"/>
          </a:p>
        </p:txBody>
      </p:sp>
      <p:sp>
        <p:nvSpPr>
          <p:cNvPr id="43" name="Text 36"/>
          <p:cNvSpPr/>
          <p:nvPr/>
        </p:nvSpPr>
        <p:spPr>
          <a:xfrm>
            <a:off x="6273440" y="4288929"/>
            <a:ext cx="5142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A0AE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→</a:t>
            </a:r>
            <a:endParaRPr lang="en-US" sz="584" dirty="0"/>
          </a:p>
        </p:txBody>
      </p:sp>
      <p:sp>
        <p:nvSpPr>
          <p:cNvPr id="44" name="Text 37"/>
          <p:cNvSpPr/>
          <p:nvPr/>
        </p:nvSpPr>
        <p:spPr>
          <a:xfrm>
            <a:off x="7693707" y="4288929"/>
            <a:ext cx="5142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A0AE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→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9670"/>
            <a:ext cx="162877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ADMINISTRATIVE STRUCTURE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8579644" y="219670"/>
            <a:ext cx="1357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2446037"/>
            <a:ext cx="17145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A0AEC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FROM</a:t>
            </a:r>
            <a:pPr algn="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A0AEC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
</a:t>
            </a:r>
            <a:pPr algn="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A0AEC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NATIONAL</a:t>
            </a:r>
            <a:pPr algn="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A0AEC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
</a:t>
            </a:r>
            <a:pPr algn="r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A0AEC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POLICY...</a:t>
            </a:r>
            <a:endParaRPr lang="en-US" sz="1602" dirty="0"/>
          </a:p>
        </p:txBody>
      </p:sp>
      <p:sp>
        <p:nvSpPr>
          <p:cNvPr id="8" name="Shape 5"/>
          <p:cNvSpPr/>
          <p:nvPr/>
        </p:nvSpPr>
        <p:spPr>
          <a:xfrm>
            <a:off x="4557713" y="1219628"/>
            <a:ext cx="14288" cy="32757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9" name="Shape 6"/>
          <p:cNvSpPr/>
          <p:nvPr/>
        </p:nvSpPr>
        <p:spPr>
          <a:xfrm>
            <a:off x="2428875" y="1076753"/>
            <a:ext cx="4286250" cy="625078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07469" y="1191053"/>
            <a:ext cx="571500" cy="39647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TIER 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CENTRAL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3321844" y="1242315"/>
            <a:ext cx="32146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Ministry of Education (MOE)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3321844" y="1426266"/>
            <a:ext cx="3214688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National policy formulation, exams, curriculum, SLEAS management</a:t>
            </a:r>
            <a:endParaRPr lang="en-US" sz="568" dirty="0"/>
          </a:p>
        </p:txBody>
      </p:sp>
      <p:sp>
        <p:nvSpPr>
          <p:cNvPr id="13" name="Shape 10"/>
          <p:cNvSpPr/>
          <p:nvPr/>
        </p:nvSpPr>
        <p:spPr>
          <a:xfrm>
            <a:off x="2428875" y="1801844"/>
            <a:ext cx="4286250" cy="625078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07469" y="1916144"/>
            <a:ext cx="571500" cy="39647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TIER 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PROVINCIAL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3321844" y="1967405"/>
            <a:ext cx="32146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Provincial Depts (PDE)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3321844" y="2151357"/>
            <a:ext cx="3214688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Provincial planning, budgeting, program implementation</a:t>
            </a:r>
            <a:endParaRPr lang="en-US" sz="568" dirty="0"/>
          </a:p>
        </p:txBody>
      </p:sp>
      <p:sp>
        <p:nvSpPr>
          <p:cNvPr id="17" name="Shape 14"/>
          <p:cNvSpPr/>
          <p:nvPr/>
        </p:nvSpPr>
        <p:spPr>
          <a:xfrm>
            <a:off x="2321719" y="2511120"/>
            <a:ext cx="4500563" cy="664185"/>
          </a:xfrm>
          <a:prstGeom prst="rect">
            <a:avLst/>
          </a:prstGeom>
          <a:solidFill>
            <a:srgbClr val="2D3748"/>
          </a:solidFill>
          <a:ln w="9144">
            <a:solidFill>
              <a:srgbClr val="2D37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09242" y="2635061"/>
            <a:ext cx="600075" cy="416302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B3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TIER 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B3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B3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63B3ED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ZONAL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3259336" y="2688887"/>
            <a:ext cx="3375422" cy="1631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5F7FA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Zonal Education Offices (ZEO)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3259336" y="2882036"/>
            <a:ext cx="3375422" cy="1155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A0AE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Direct school administration, teacher management, quality supervision</a:t>
            </a:r>
            <a:endParaRPr lang="en-US" sz="568" dirty="0"/>
          </a:p>
        </p:txBody>
      </p:sp>
      <p:sp>
        <p:nvSpPr>
          <p:cNvPr id="21" name="Shape 18"/>
          <p:cNvSpPr/>
          <p:nvPr/>
        </p:nvSpPr>
        <p:spPr>
          <a:xfrm>
            <a:off x="2428875" y="3255764"/>
            <a:ext cx="4286250" cy="625078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07469" y="3370064"/>
            <a:ext cx="571500" cy="39647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TIER 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DIVISIONAL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3321844" y="3421326"/>
            <a:ext cx="32146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Divisional Offices (DEO)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3321844" y="3605278"/>
            <a:ext cx="3214688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Localized supervision, data collection, materials distribution</a:t>
            </a:r>
            <a:endParaRPr lang="en-US" sz="568" dirty="0"/>
          </a:p>
        </p:txBody>
      </p:sp>
      <p:sp>
        <p:nvSpPr>
          <p:cNvPr id="25" name="Shape 22"/>
          <p:cNvSpPr/>
          <p:nvPr/>
        </p:nvSpPr>
        <p:spPr>
          <a:xfrm>
            <a:off x="2428875" y="3980855"/>
            <a:ext cx="4286250" cy="625078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607469" y="4095155"/>
            <a:ext cx="571500" cy="396478"/>
          </a:xfrm>
          <a:prstGeom prst="rect">
            <a:avLst/>
          </a:prstGeom>
          <a:noFill/>
          <a:ln/>
        </p:spPr>
        <p:txBody>
          <a:bodyPr wrap="square" lIns="0" tIns="0" rIns="170053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TIER 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SCHOOL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3321844" y="4146417"/>
            <a:ext cx="32146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Government Schools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3321844" y="4330368"/>
            <a:ext cx="3214688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Classroom delivery, student learning, field level operations</a:t>
            </a:r>
            <a:endParaRPr lang="en-US" sz="568" dirty="0"/>
          </a:p>
        </p:txBody>
      </p:sp>
      <p:sp>
        <p:nvSpPr>
          <p:cNvPr id="29" name="Text 26"/>
          <p:cNvSpPr/>
          <p:nvPr/>
        </p:nvSpPr>
        <p:spPr>
          <a:xfrm>
            <a:off x="7000875" y="2446037"/>
            <a:ext cx="1714500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A0AEC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...TO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A0AEC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A0AEC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CLASSROOM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A0AEC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
</a:t>
            </a:r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A0AEC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DELIVERY</a:t>
            </a:r>
            <a:endParaRPr lang="en-US" sz="160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9670"/>
            <a:ext cx="156090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GEOGRAPHIC DISTRIBUTION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8579644" y="219670"/>
            <a:ext cx="1357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857250"/>
            <a:ext cx="4667241" cy="24001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20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UNEVEN DISTRIBUTION ACROSS PROVINCES</a:t>
            </a:r>
            <a:endParaRPr lang="en-US" sz="1397" dirty="0"/>
          </a:p>
        </p:txBody>
      </p:sp>
      <p:sp>
        <p:nvSpPr>
          <p:cNvPr id="8" name="Shape 5"/>
          <p:cNvSpPr/>
          <p:nvPr/>
        </p:nvSpPr>
        <p:spPr>
          <a:xfrm>
            <a:off x="428625" y="1240138"/>
            <a:ext cx="4667241" cy="2743200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8625" y="1240138"/>
            <a:ext cx="1266704" cy="29289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1240138"/>
            <a:ext cx="1266704" cy="29289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PROVINCE</a:t>
            </a:r>
            <a:endParaRPr lang="en-US" sz="634" dirty="0"/>
          </a:p>
        </p:txBody>
      </p:sp>
      <p:sp>
        <p:nvSpPr>
          <p:cNvPr id="11" name="Shape 8"/>
          <p:cNvSpPr/>
          <p:nvPr/>
        </p:nvSpPr>
        <p:spPr>
          <a:xfrm>
            <a:off x="1695329" y="1240138"/>
            <a:ext cx="690265" cy="29289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2" name="Text 9"/>
          <p:cNvSpPr/>
          <p:nvPr/>
        </p:nvSpPr>
        <p:spPr>
          <a:xfrm>
            <a:off x="1695329" y="1240138"/>
            <a:ext cx="690265" cy="29289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ZONES</a:t>
            </a:r>
            <a:endParaRPr lang="en-US" sz="634" dirty="0"/>
          </a:p>
        </p:txBody>
      </p:sp>
      <p:sp>
        <p:nvSpPr>
          <p:cNvPr id="13" name="Shape 10"/>
          <p:cNvSpPr/>
          <p:nvPr/>
        </p:nvSpPr>
        <p:spPr>
          <a:xfrm>
            <a:off x="2385594" y="1240138"/>
            <a:ext cx="850106" cy="29289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4" name="Text 11"/>
          <p:cNvSpPr/>
          <p:nvPr/>
        </p:nvSpPr>
        <p:spPr>
          <a:xfrm>
            <a:off x="2385594" y="1240138"/>
            <a:ext cx="850106" cy="29289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SCHOOLS</a:t>
            </a:r>
            <a:endParaRPr lang="en-US" sz="634" dirty="0"/>
          </a:p>
        </p:txBody>
      </p:sp>
      <p:sp>
        <p:nvSpPr>
          <p:cNvPr id="15" name="Shape 12"/>
          <p:cNvSpPr/>
          <p:nvPr/>
        </p:nvSpPr>
        <p:spPr>
          <a:xfrm>
            <a:off x="3235700" y="1240138"/>
            <a:ext cx="930055" cy="29289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6" name="Text 13"/>
          <p:cNvSpPr/>
          <p:nvPr/>
        </p:nvSpPr>
        <p:spPr>
          <a:xfrm>
            <a:off x="3235700" y="1240138"/>
            <a:ext cx="930055" cy="29289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STUDENTS</a:t>
            </a:r>
            <a:endParaRPr lang="en-US" sz="634" dirty="0"/>
          </a:p>
        </p:txBody>
      </p:sp>
      <p:sp>
        <p:nvSpPr>
          <p:cNvPr id="17" name="Shape 14"/>
          <p:cNvSpPr/>
          <p:nvPr/>
        </p:nvSpPr>
        <p:spPr>
          <a:xfrm>
            <a:off x="4165755" y="1240138"/>
            <a:ext cx="930111" cy="29289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8" name="Text 15"/>
          <p:cNvSpPr/>
          <p:nvPr/>
        </p:nvSpPr>
        <p:spPr>
          <a:xfrm>
            <a:off x="4165755" y="1240138"/>
            <a:ext cx="930111" cy="292894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34" b="1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TEACHERS</a:t>
            </a:r>
            <a:endParaRPr lang="en-US" sz="634" dirty="0"/>
          </a:p>
        </p:txBody>
      </p:sp>
      <p:sp>
        <p:nvSpPr>
          <p:cNvPr id="19" name="Text 16"/>
          <p:cNvSpPr/>
          <p:nvPr/>
        </p:nvSpPr>
        <p:spPr>
          <a:xfrm>
            <a:off x="428625" y="1533032"/>
            <a:ext cx="1266704" cy="267891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Western</a:t>
            </a:r>
            <a:endParaRPr lang="en-US" sz="674" dirty="0"/>
          </a:p>
        </p:txBody>
      </p:sp>
      <p:sp>
        <p:nvSpPr>
          <p:cNvPr id="20" name="Text 17"/>
          <p:cNvSpPr/>
          <p:nvPr/>
        </p:nvSpPr>
        <p:spPr>
          <a:xfrm>
            <a:off x="1695329" y="1533032"/>
            <a:ext cx="690265" cy="267891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11</a:t>
            </a:r>
            <a:endParaRPr lang="en-US" sz="674" dirty="0"/>
          </a:p>
        </p:txBody>
      </p:sp>
      <p:sp>
        <p:nvSpPr>
          <p:cNvPr id="21" name="Text 18"/>
          <p:cNvSpPr/>
          <p:nvPr/>
        </p:nvSpPr>
        <p:spPr>
          <a:xfrm>
            <a:off x="2385594" y="1533032"/>
            <a:ext cx="850106" cy="267891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1,359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3235700" y="1533032"/>
            <a:ext cx="930055" cy="267891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965,113</a:t>
            </a:r>
            <a:endParaRPr lang="en-US" sz="674" dirty="0"/>
          </a:p>
        </p:txBody>
      </p:sp>
      <p:sp>
        <p:nvSpPr>
          <p:cNvPr id="23" name="Text 20"/>
          <p:cNvSpPr/>
          <p:nvPr/>
        </p:nvSpPr>
        <p:spPr>
          <a:xfrm>
            <a:off x="4165755" y="1533032"/>
            <a:ext cx="930111" cy="267891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45,680</a:t>
            </a:r>
            <a:endParaRPr lang="en-US" sz="674" dirty="0"/>
          </a:p>
        </p:txBody>
      </p:sp>
      <p:sp>
        <p:nvSpPr>
          <p:cNvPr id="24" name="Shape 21"/>
          <p:cNvSpPr/>
          <p:nvPr/>
        </p:nvSpPr>
        <p:spPr>
          <a:xfrm>
            <a:off x="428625" y="1800923"/>
            <a:ext cx="4667241" cy="27146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5" name="Text 22"/>
          <p:cNvSpPr/>
          <p:nvPr/>
        </p:nvSpPr>
        <p:spPr>
          <a:xfrm>
            <a:off x="428625" y="1800923"/>
            <a:ext cx="1266704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Central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1695329" y="1800923"/>
            <a:ext cx="690265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15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2385594" y="1800923"/>
            <a:ext cx="850106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1,519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3235700" y="1800923"/>
            <a:ext cx="930055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547,996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4165755" y="1800923"/>
            <a:ext cx="930111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34,013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428625" y="2072385"/>
            <a:ext cx="1266704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Southern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1695329" y="2072385"/>
            <a:ext cx="690265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11</a:t>
            </a:r>
            <a:endParaRPr lang="en-US" sz="674" dirty="0"/>
          </a:p>
        </p:txBody>
      </p:sp>
      <p:sp>
        <p:nvSpPr>
          <p:cNvPr id="32" name="Text 29"/>
          <p:cNvSpPr/>
          <p:nvPr/>
        </p:nvSpPr>
        <p:spPr>
          <a:xfrm>
            <a:off x="2385594" y="2072385"/>
            <a:ext cx="850106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1,112</a:t>
            </a:r>
            <a:endParaRPr lang="en-US" sz="674" dirty="0"/>
          </a:p>
        </p:txBody>
      </p:sp>
      <p:sp>
        <p:nvSpPr>
          <p:cNvPr id="33" name="Text 30"/>
          <p:cNvSpPr/>
          <p:nvPr/>
        </p:nvSpPr>
        <p:spPr>
          <a:xfrm>
            <a:off x="3235700" y="2072385"/>
            <a:ext cx="930055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531,695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4165755" y="2072385"/>
            <a:ext cx="930111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30,272</a:t>
            </a:r>
            <a:endParaRPr lang="en-US" sz="674" dirty="0"/>
          </a:p>
        </p:txBody>
      </p:sp>
      <p:sp>
        <p:nvSpPr>
          <p:cNvPr id="35" name="Shape 32"/>
          <p:cNvSpPr/>
          <p:nvPr/>
        </p:nvSpPr>
        <p:spPr>
          <a:xfrm>
            <a:off x="428625" y="2343848"/>
            <a:ext cx="4667241" cy="27146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6" name="Text 33"/>
          <p:cNvSpPr/>
          <p:nvPr/>
        </p:nvSpPr>
        <p:spPr>
          <a:xfrm>
            <a:off x="428625" y="2343848"/>
            <a:ext cx="1266704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Northern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1695329" y="2343848"/>
            <a:ext cx="690265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12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2385594" y="2343848"/>
            <a:ext cx="850106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997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3235700" y="2343848"/>
            <a:ext cx="930055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241,085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4165755" y="2343848"/>
            <a:ext cx="930111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17,838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428625" y="2615310"/>
            <a:ext cx="1266704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Eastern</a:t>
            </a:r>
            <a:endParaRPr lang="en-US" sz="674" dirty="0"/>
          </a:p>
        </p:txBody>
      </p:sp>
      <p:sp>
        <p:nvSpPr>
          <p:cNvPr id="42" name="Text 39"/>
          <p:cNvSpPr/>
          <p:nvPr/>
        </p:nvSpPr>
        <p:spPr>
          <a:xfrm>
            <a:off x="1695329" y="2615310"/>
            <a:ext cx="690265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17</a:t>
            </a:r>
            <a:endParaRPr lang="en-US" sz="674" dirty="0"/>
          </a:p>
        </p:txBody>
      </p:sp>
      <p:sp>
        <p:nvSpPr>
          <p:cNvPr id="43" name="Text 40"/>
          <p:cNvSpPr/>
          <p:nvPr/>
        </p:nvSpPr>
        <p:spPr>
          <a:xfrm>
            <a:off x="2385594" y="2615310"/>
            <a:ext cx="850106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1,110</a:t>
            </a:r>
            <a:endParaRPr lang="en-US" sz="674" dirty="0"/>
          </a:p>
        </p:txBody>
      </p:sp>
      <p:sp>
        <p:nvSpPr>
          <p:cNvPr id="44" name="Text 41"/>
          <p:cNvSpPr/>
          <p:nvPr/>
        </p:nvSpPr>
        <p:spPr>
          <a:xfrm>
            <a:off x="3235700" y="2615310"/>
            <a:ext cx="930055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394,725</a:t>
            </a:r>
            <a:endParaRPr lang="en-US" sz="674" dirty="0"/>
          </a:p>
        </p:txBody>
      </p:sp>
      <p:sp>
        <p:nvSpPr>
          <p:cNvPr id="45" name="Text 42"/>
          <p:cNvSpPr/>
          <p:nvPr/>
        </p:nvSpPr>
        <p:spPr>
          <a:xfrm>
            <a:off x="4165755" y="2615310"/>
            <a:ext cx="930111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21,766</a:t>
            </a:r>
            <a:endParaRPr lang="en-US" sz="674" dirty="0"/>
          </a:p>
        </p:txBody>
      </p:sp>
      <p:sp>
        <p:nvSpPr>
          <p:cNvPr id="46" name="Shape 43"/>
          <p:cNvSpPr/>
          <p:nvPr/>
        </p:nvSpPr>
        <p:spPr>
          <a:xfrm>
            <a:off x="428625" y="2886773"/>
            <a:ext cx="4667241" cy="27146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7" name="Text 44"/>
          <p:cNvSpPr/>
          <p:nvPr/>
        </p:nvSpPr>
        <p:spPr>
          <a:xfrm>
            <a:off x="428625" y="2886773"/>
            <a:ext cx="1266704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North Western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1695329" y="2886773"/>
            <a:ext cx="690265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</a:t>
            </a:r>
            <a:endParaRPr lang="en-US" sz="674" dirty="0"/>
          </a:p>
        </p:txBody>
      </p:sp>
      <p:sp>
        <p:nvSpPr>
          <p:cNvPr id="49" name="Text 46"/>
          <p:cNvSpPr/>
          <p:nvPr/>
        </p:nvSpPr>
        <p:spPr>
          <a:xfrm>
            <a:off x="2385594" y="2886773"/>
            <a:ext cx="850106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1,256</a:t>
            </a:r>
            <a:endParaRPr lang="en-US" sz="674" dirty="0"/>
          </a:p>
        </p:txBody>
      </p:sp>
      <p:sp>
        <p:nvSpPr>
          <p:cNvPr id="50" name="Text 47"/>
          <p:cNvSpPr/>
          <p:nvPr/>
        </p:nvSpPr>
        <p:spPr>
          <a:xfrm>
            <a:off x="3235700" y="2886773"/>
            <a:ext cx="930055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509,359</a:t>
            </a:r>
            <a:endParaRPr lang="en-US" sz="674" dirty="0"/>
          </a:p>
        </p:txBody>
      </p:sp>
      <p:sp>
        <p:nvSpPr>
          <p:cNvPr id="51" name="Text 48"/>
          <p:cNvSpPr/>
          <p:nvPr/>
        </p:nvSpPr>
        <p:spPr>
          <a:xfrm>
            <a:off x="4165755" y="2886773"/>
            <a:ext cx="930111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28,187</a:t>
            </a:r>
            <a:endParaRPr lang="en-US" sz="674" dirty="0"/>
          </a:p>
        </p:txBody>
      </p:sp>
      <p:sp>
        <p:nvSpPr>
          <p:cNvPr id="52" name="Text 49"/>
          <p:cNvSpPr/>
          <p:nvPr/>
        </p:nvSpPr>
        <p:spPr>
          <a:xfrm>
            <a:off x="428625" y="3158235"/>
            <a:ext cx="1266704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North Central</a:t>
            </a:r>
            <a:endParaRPr lang="en-US" sz="674" dirty="0"/>
          </a:p>
        </p:txBody>
      </p:sp>
      <p:sp>
        <p:nvSpPr>
          <p:cNvPr id="53" name="Text 50"/>
          <p:cNvSpPr/>
          <p:nvPr/>
        </p:nvSpPr>
        <p:spPr>
          <a:xfrm>
            <a:off x="1695329" y="3158235"/>
            <a:ext cx="690265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</a:t>
            </a:r>
            <a:endParaRPr lang="en-US" sz="674" dirty="0"/>
          </a:p>
        </p:txBody>
      </p:sp>
      <p:sp>
        <p:nvSpPr>
          <p:cNvPr id="54" name="Text 51"/>
          <p:cNvSpPr/>
          <p:nvPr/>
        </p:nvSpPr>
        <p:spPr>
          <a:xfrm>
            <a:off x="2385594" y="3158235"/>
            <a:ext cx="850106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812</a:t>
            </a:r>
            <a:endParaRPr lang="en-US" sz="674" dirty="0"/>
          </a:p>
        </p:txBody>
      </p:sp>
      <p:sp>
        <p:nvSpPr>
          <p:cNvPr id="55" name="Text 52"/>
          <p:cNvSpPr/>
          <p:nvPr/>
        </p:nvSpPr>
        <p:spPr>
          <a:xfrm>
            <a:off x="3235700" y="3158235"/>
            <a:ext cx="930055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291,997</a:t>
            </a:r>
            <a:endParaRPr lang="en-US" sz="674" dirty="0"/>
          </a:p>
        </p:txBody>
      </p:sp>
      <p:sp>
        <p:nvSpPr>
          <p:cNvPr id="56" name="Text 53"/>
          <p:cNvSpPr/>
          <p:nvPr/>
        </p:nvSpPr>
        <p:spPr>
          <a:xfrm>
            <a:off x="4165755" y="3158235"/>
            <a:ext cx="930111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17,376</a:t>
            </a:r>
            <a:endParaRPr lang="en-US" sz="674" dirty="0"/>
          </a:p>
        </p:txBody>
      </p:sp>
      <p:sp>
        <p:nvSpPr>
          <p:cNvPr id="57" name="Shape 54"/>
          <p:cNvSpPr/>
          <p:nvPr/>
        </p:nvSpPr>
        <p:spPr>
          <a:xfrm>
            <a:off x="428625" y="3429698"/>
            <a:ext cx="4667241" cy="271463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58" name="Text 55"/>
          <p:cNvSpPr/>
          <p:nvPr/>
        </p:nvSpPr>
        <p:spPr>
          <a:xfrm>
            <a:off x="428625" y="3429698"/>
            <a:ext cx="1266704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Uva</a:t>
            </a:r>
            <a:endParaRPr lang="en-US" sz="674" dirty="0"/>
          </a:p>
        </p:txBody>
      </p:sp>
      <p:sp>
        <p:nvSpPr>
          <p:cNvPr id="59" name="Text 56"/>
          <p:cNvSpPr/>
          <p:nvPr/>
        </p:nvSpPr>
        <p:spPr>
          <a:xfrm>
            <a:off x="1695329" y="3429698"/>
            <a:ext cx="690265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</a:t>
            </a:r>
            <a:endParaRPr lang="en-US" sz="674" dirty="0"/>
          </a:p>
        </p:txBody>
      </p:sp>
      <p:sp>
        <p:nvSpPr>
          <p:cNvPr id="60" name="Text 57"/>
          <p:cNvSpPr/>
          <p:nvPr/>
        </p:nvSpPr>
        <p:spPr>
          <a:xfrm>
            <a:off x="2385594" y="3429698"/>
            <a:ext cx="850106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900</a:t>
            </a:r>
            <a:endParaRPr lang="en-US" sz="674" dirty="0"/>
          </a:p>
        </p:txBody>
      </p:sp>
      <p:sp>
        <p:nvSpPr>
          <p:cNvPr id="61" name="Text 58"/>
          <p:cNvSpPr/>
          <p:nvPr/>
        </p:nvSpPr>
        <p:spPr>
          <a:xfrm>
            <a:off x="3235700" y="3429698"/>
            <a:ext cx="930055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290,594</a:t>
            </a:r>
            <a:endParaRPr lang="en-US" sz="674" dirty="0"/>
          </a:p>
        </p:txBody>
      </p:sp>
      <p:sp>
        <p:nvSpPr>
          <p:cNvPr id="62" name="Text 59"/>
          <p:cNvSpPr/>
          <p:nvPr/>
        </p:nvSpPr>
        <p:spPr>
          <a:xfrm>
            <a:off x="4165755" y="3429698"/>
            <a:ext cx="930111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20,768</a:t>
            </a:r>
            <a:endParaRPr lang="en-US" sz="674" dirty="0"/>
          </a:p>
        </p:txBody>
      </p:sp>
      <p:sp>
        <p:nvSpPr>
          <p:cNvPr id="63" name="Text 60"/>
          <p:cNvSpPr/>
          <p:nvPr/>
        </p:nvSpPr>
        <p:spPr>
          <a:xfrm>
            <a:off x="428625" y="3701160"/>
            <a:ext cx="1266704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Sabaragamuwa</a:t>
            </a:r>
            <a:endParaRPr lang="en-US" sz="674" dirty="0"/>
          </a:p>
        </p:txBody>
      </p:sp>
      <p:sp>
        <p:nvSpPr>
          <p:cNvPr id="64" name="Text 61"/>
          <p:cNvSpPr/>
          <p:nvPr/>
        </p:nvSpPr>
        <p:spPr>
          <a:xfrm>
            <a:off x="1695329" y="3701160"/>
            <a:ext cx="690265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</a:t>
            </a:r>
            <a:endParaRPr lang="en-US" sz="674" dirty="0"/>
          </a:p>
        </p:txBody>
      </p:sp>
      <p:sp>
        <p:nvSpPr>
          <p:cNvPr id="65" name="Text 62"/>
          <p:cNvSpPr/>
          <p:nvPr/>
        </p:nvSpPr>
        <p:spPr>
          <a:xfrm>
            <a:off x="2385594" y="3701160"/>
            <a:ext cx="850106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1,129</a:t>
            </a:r>
            <a:endParaRPr lang="en-US" sz="674" dirty="0"/>
          </a:p>
        </p:txBody>
      </p:sp>
      <p:sp>
        <p:nvSpPr>
          <p:cNvPr id="66" name="Text 63"/>
          <p:cNvSpPr/>
          <p:nvPr/>
        </p:nvSpPr>
        <p:spPr>
          <a:xfrm>
            <a:off x="3235700" y="3701160"/>
            <a:ext cx="930055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393,391</a:t>
            </a:r>
            <a:endParaRPr lang="en-US" sz="674" dirty="0"/>
          </a:p>
        </p:txBody>
      </p:sp>
      <p:sp>
        <p:nvSpPr>
          <p:cNvPr id="67" name="Text 64"/>
          <p:cNvSpPr/>
          <p:nvPr/>
        </p:nvSpPr>
        <p:spPr>
          <a:xfrm>
            <a:off x="4165755" y="3701160"/>
            <a:ext cx="930111" cy="271463"/>
          </a:xfrm>
          <a:prstGeom prst="rect">
            <a:avLst/>
          </a:prstGeom>
          <a:noFill/>
          <a:ln/>
        </p:spPr>
        <p:txBody>
          <a:bodyPr wrap="square" lIns="127508" tIns="85090" rIns="127508" bIns="85090" rtlCol="0" anchor="ctr">
            <a:spAutoFit/>
          </a:bodyPr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674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25,118</a:t>
            </a:r>
            <a:endParaRPr lang="en-US" sz="674" dirty="0"/>
          </a:p>
        </p:txBody>
      </p:sp>
      <p:sp>
        <p:nvSpPr>
          <p:cNvPr id="68" name="Text 65"/>
          <p:cNvSpPr/>
          <p:nvPr/>
        </p:nvSpPr>
        <p:spPr>
          <a:xfrm>
            <a:off x="428625" y="4047632"/>
            <a:ext cx="4667241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Source: School Census 2017, Ministry of Education</a:t>
            </a:r>
            <a:endParaRPr lang="en-US" sz="516" dirty="0"/>
          </a:p>
        </p:txBody>
      </p:sp>
      <p:sp>
        <p:nvSpPr>
          <p:cNvPr id="69" name="Shape 66"/>
          <p:cNvSpPr/>
          <p:nvPr/>
        </p:nvSpPr>
        <p:spPr>
          <a:xfrm>
            <a:off x="5381616" y="857250"/>
            <a:ext cx="3333731" cy="4000500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381616" y="857250"/>
            <a:ext cx="3319416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71" name="Text 68"/>
          <p:cNvSpPr/>
          <p:nvPr/>
        </p:nvSpPr>
        <p:spPr>
          <a:xfrm>
            <a:off x="5524491" y="1000125"/>
            <a:ext cx="304798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NUMBER OF ZONES PER PROVINCE</a:t>
            </a:r>
            <a:endParaRPr lang="en-US" sz="683" dirty="0"/>
          </a:p>
        </p:txBody>
      </p:sp>
      <p:pic>
        <p:nvPicPr>
          <p:cNvPr id="7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91" y="1203722"/>
            <a:ext cx="3047981" cy="35111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9670"/>
            <a:ext cx="162877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ORGANIZATIONAL STRUCTURE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8579644" y="219670"/>
            <a:ext cx="1357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1208187" y="857250"/>
            <a:ext cx="6727627" cy="4125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0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INTERNAL STRUCTURE OF A ZONAL EDUCATION OFFICE</a:t>
            </a:r>
            <a:endParaRPr lang="en-US" sz="1808" dirty="0"/>
          </a:p>
        </p:txBody>
      </p:sp>
      <p:sp>
        <p:nvSpPr>
          <p:cNvPr id="8" name="Shape 5"/>
          <p:cNvSpPr/>
          <p:nvPr/>
        </p:nvSpPr>
        <p:spPr>
          <a:xfrm>
            <a:off x="2951262" y="1555552"/>
            <a:ext cx="3241477" cy="564356"/>
          </a:xfrm>
          <a:prstGeom prst="rect">
            <a:avLst/>
          </a:prstGeom>
          <a:solidFill>
            <a:srgbClr val="2D3748"/>
          </a:solidFill>
          <a:ln w="18288">
            <a:solidFill>
              <a:srgbClr val="1A202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51299" y="1662708"/>
            <a:ext cx="264140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ZONAL DIRECTOR OF EDUCATION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3251299" y="1871663"/>
            <a:ext cx="264140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A0AE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Supported by Deputy Directors &amp; Subject Specialists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1257300" y="2519958"/>
            <a:ext cx="6629400" cy="14288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12" name="Shape 9"/>
          <p:cNvSpPr/>
          <p:nvPr/>
        </p:nvSpPr>
        <p:spPr>
          <a:xfrm>
            <a:off x="1257300" y="2519958"/>
            <a:ext cx="14288" cy="214313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13" name="Shape 10"/>
          <p:cNvSpPr/>
          <p:nvPr/>
        </p:nvSpPr>
        <p:spPr>
          <a:xfrm>
            <a:off x="7872413" y="2519958"/>
            <a:ext cx="14288" cy="214313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14" name="Shape 11"/>
          <p:cNvSpPr/>
          <p:nvPr/>
        </p:nvSpPr>
        <p:spPr>
          <a:xfrm>
            <a:off x="428625" y="2748558"/>
            <a:ext cx="1543050" cy="18109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28625" y="2748558"/>
            <a:ext cx="154305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6" name="Shape 13"/>
          <p:cNvSpPr/>
          <p:nvPr/>
        </p:nvSpPr>
        <p:spPr>
          <a:xfrm>
            <a:off x="1964531" y="2748558"/>
            <a:ext cx="7144" cy="1810941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7" name="Shape 14"/>
          <p:cNvSpPr/>
          <p:nvPr/>
        </p:nvSpPr>
        <p:spPr>
          <a:xfrm>
            <a:off x="428625" y="4552355"/>
            <a:ext cx="1543050" cy="7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8" name="Shape 15"/>
          <p:cNvSpPr/>
          <p:nvPr/>
        </p:nvSpPr>
        <p:spPr>
          <a:xfrm>
            <a:off x="428625" y="2748558"/>
            <a:ext cx="7144" cy="1810941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9" name="Shape 16"/>
          <p:cNvSpPr/>
          <p:nvPr/>
        </p:nvSpPr>
        <p:spPr>
          <a:xfrm>
            <a:off x="1157288" y="2505670"/>
            <a:ext cx="71438" cy="71438"/>
          </a:xfrm>
          <a:prstGeom prst="ellipse">
            <a:avLst/>
          </a:prstGeom>
          <a:solidFill>
            <a:srgbClr val="1A202C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141" y="2891433"/>
            <a:ext cx="150019" cy="1714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71500" y="3170039"/>
            <a:ext cx="1257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Establishment &amp; General Mgmt</a:t>
            </a:r>
            <a:endParaRPr lang="en-US" sz="784" dirty="0"/>
          </a:p>
        </p:txBody>
      </p:sp>
      <p:sp>
        <p:nvSpPr>
          <p:cNvPr id="22" name="Text 18"/>
          <p:cNvSpPr/>
          <p:nvPr/>
        </p:nvSpPr>
        <p:spPr>
          <a:xfrm>
            <a:off x="571500" y="3562945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23" name="Text 19"/>
          <p:cNvSpPr/>
          <p:nvPr/>
        </p:nvSpPr>
        <p:spPr>
          <a:xfrm>
            <a:off x="657225" y="3570089"/>
            <a:ext cx="11144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Appointments &amp; Transfers</a:t>
            </a:r>
            <a:endParaRPr lang="en-US" sz="568" dirty="0"/>
          </a:p>
        </p:txBody>
      </p:sp>
      <p:sp>
        <p:nvSpPr>
          <p:cNvPr id="24" name="Text 20"/>
          <p:cNvSpPr/>
          <p:nvPr/>
        </p:nvSpPr>
        <p:spPr>
          <a:xfrm>
            <a:off x="571500" y="3737967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25" name="Text 21"/>
          <p:cNvSpPr/>
          <p:nvPr/>
        </p:nvSpPr>
        <p:spPr>
          <a:xfrm>
            <a:off x="657225" y="3745111"/>
            <a:ext cx="46434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Promotions</a:t>
            </a:r>
            <a:endParaRPr lang="en-US" sz="568" dirty="0"/>
          </a:p>
        </p:txBody>
      </p:sp>
      <p:sp>
        <p:nvSpPr>
          <p:cNvPr id="26" name="Text 22"/>
          <p:cNvSpPr/>
          <p:nvPr/>
        </p:nvSpPr>
        <p:spPr>
          <a:xfrm>
            <a:off x="571500" y="3912989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27" name="Text 23"/>
          <p:cNvSpPr/>
          <p:nvPr/>
        </p:nvSpPr>
        <p:spPr>
          <a:xfrm>
            <a:off x="657225" y="3920133"/>
            <a:ext cx="83581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Leave &amp; Retirement</a:t>
            </a:r>
            <a:endParaRPr lang="en-US" sz="568" dirty="0"/>
          </a:p>
        </p:txBody>
      </p:sp>
      <p:sp>
        <p:nvSpPr>
          <p:cNvPr id="28" name="Text 24"/>
          <p:cNvSpPr/>
          <p:nvPr/>
        </p:nvSpPr>
        <p:spPr>
          <a:xfrm>
            <a:off x="571500" y="4088011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29" name="Text 25"/>
          <p:cNvSpPr/>
          <p:nvPr/>
        </p:nvSpPr>
        <p:spPr>
          <a:xfrm>
            <a:off x="657225" y="4095155"/>
            <a:ext cx="7429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HR for all staff</a:t>
            </a:r>
            <a:endParaRPr lang="en-US" sz="568" dirty="0"/>
          </a:p>
        </p:txBody>
      </p:sp>
      <p:sp>
        <p:nvSpPr>
          <p:cNvPr id="30" name="Shape 26"/>
          <p:cNvSpPr/>
          <p:nvPr/>
        </p:nvSpPr>
        <p:spPr>
          <a:xfrm>
            <a:off x="2114550" y="2748558"/>
            <a:ext cx="1543050" cy="18109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7"/>
          <p:cNvSpPr/>
          <p:nvPr/>
        </p:nvSpPr>
        <p:spPr>
          <a:xfrm>
            <a:off x="2114550" y="2748558"/>
            <a:ext cx="154305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2" name="Shape 28"/>
          <p:cNvSpPr/>
          <p:nvPr/>
        </p:nvSpPr>
        <p:spPr>
          <a:xfrm>
            <a:off x="3650456" y="2748558"/>
            <a:ext cx="7144" cy="1810941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33" name="Shape 29"/>
          <p:cNvSpPr/>
          <p:nvPr/>
        </p:nvSpPr>
        <p:spPr>
          <a:xfrm>
            <a:off x="2114550" y="4552355"/>
            <a:ext cx="1543050" cy="7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34" name="Shape 30"/>
          <p:cNvSpPr/>
          <p:nvPr/>
        </p:nvSpPr>
        <p:spPr>
          <a:xfrm>
            <a:off x="2114550" y="2748558"/>
            <a:ext cx="7144" cy="1810941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35" name="Shape 31"/>
          <p:cNvSpPr/>
          <p:nvPr/>
        </p:nvSpPr>
        <p:spPr>
          <a:xfrm>
            <a:off x="2843213" y="2505670"/>
            <a:ext cx="71438" cy="71438"/>
          </a:xfrm>
          <a:prstGeom prst="ellipse">
            <a:avLst/>
          </a:prstGeom>
          <a:solidFill>
            <a:srgbClr val="1A202C"/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919" y="2891433"/>
            <a:ext cx="214313" cy="17145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2257425" y="3170039"/>
            <a:ext cx="1257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Education Administration</a:t>
            </a:r>
            <a:endParaRPr lang="en-US" sz="784" dirty="0"/>
          </a:p>
        </p:txBody>
      </p:sp>
      <p:sp>
        <p:nvSpPr>
          <p:cNvPr id="38" name="Text 33"/>
          <p:cNvSpPr/>
          <p:nvPr/>
        </p:nvSpPr>
        <p:spPr>
          <a:xfrm>
            <a:off x="2257425" y="3562945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39" name="Text 34"/>
          <p:cNvSpPr/>
          <p:nvPr/>
        </p:nvSpPr>
        <p:spPr>
          <a:xfrm>
            <a:off x="2343150" y="3570089"/>
            <a:ext cx="83581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Student Admissions</a:t>
            </a:r>
            <a:endParaRPr lang="en-US" sz="568" dirty="0"/>
          </a:p>
        </p:txBody>
      </p:sp>
      <p:sp>
        <p:nvSpPr>
          <p:cNvPr id="40" name="Text 35"/>
          <p:cNvSpPr/>
          <p:nvPr/>
        </p:nvSpPr>
        <p:spPr>
          <a:xfrm>
            <a:off x="2257425" y="3737967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41" name="Text 36"/>
          <p:cNvSpPr/>
          <p:nvPr/>
        </p:nvSpPr>
        <p:spPr>
          <a:xfrm>
            <a:off x="2343150" y="3745111"/>
            <a:ext cx="78938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School Timetables</a:t>
            </a:r>
            <a:endParaRPr lang="en-US" sz="568" dirty="0"/>
          </a:p>
        </p:txBody>
      </p:sp>
      <p:sp>
        <p:nvSpPr>
          <p:cNvPr id="42" name="Text 37"/>
          <p:cNvSpPr/>
          <p:nvPr/>
        </p:nvSpPr>
        <p:spPr>
          <a:xfrm>
            <a:off x="2257425" y="3912989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43" name="Text 38"/>
          <p:cNvSpPr/>
          <p:nvPr/>
        </p:nvSpPr>
        <p:spPr>
          <a:xfrm>
            <a:off x="2343150" y="3920133"/>
            <a:ext cx="83581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Student Discipline</a:t>
            </a:r>
            <a:endParaRPr lang="en-US" sz="568" dirty="0"/>
          </a:p>
        </p:txBody>
      </p:sp>
      <p:sp>
        <p:nvSpPr>
          <p:cNvPr id="44" name="Text 39"/>
          <p:cNvSpPr/>
          <p:nvPr/>
        </p:nvSpPr>
        <p:spPr>
          <a:xfrm>
            <a:off x="2257425" y="4088011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45" name="Text 40"/>
          <p:cNvSpPr/>
          <p:nvPr/>
        </p:nvSpPr>
        <p:spPr>
          <a:xfrm>
            <a:off x="2343150" y="4095155"/>
            <a:ext cx="7429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Welfare Programs</a:t>
            </a:r>
            <a:endParaRPr lang="en-US" sz="568" dirty="0"/>
          </a:p>
        </p:txBody>
      </p:sp>
      <p:sp>
        <p:nvSpPr>
          <p:cNvPr id="46" name="Shape 41"/>
          <p:cNvSpPr/>
          <p:nvPr/>
        </p:nvSpPr>
        <p:spPr>
          <a:xfrm>
            <a:off x="3800475" y="2748558"/>
            <a:ext cx="1543050" cy="18109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2"/>
          <p:cNvSpPr/>
          <p:nvPr/>
        </p:nvSpPr>
        <p:spPr>
          <a:xfrm>
            <a:off x="3800475" y="2748558"/>
            <a:ext cx="154305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8" name="Shape 43"/>
          <p:cNvSpPr/>
          <p:nvPr/>
        </p:nvSpPr>
        <p:spPr>
          <a:xfrm>
            <a:off x="5336381" y="2748558"/>
            <a:ext cx="7144" cy="1810941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49" name="Shape 44"/>
          <p:cNvSpPr/>
          <p:nvPr/>
        </p:nvSpPr>
        <p:spPr>
          <a:xfrm>
            <a:off x="3800475" y="4552355"/>
            <a:ext cx="1543050" cy="7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50" name="Shape 45"/>
          <p:cNvSpPr/>
          <p:nvPr/>
        </p:nvSpPr>
        <p:spPr>
          <a:xfrm>
            <a:off x="3800475" y="2748558"/>
            <a:ext cx="7144" cy="1810941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51" name="Shape 46"/>
          <p:cNvSpPr/>
          <p:nvPr/>
        </p:nvSpPr>
        <p:spPr>
          <a:xfrm>
            <a:off x="4529138" y="2505670"/>
            <a:ext cx="71438" cy="71438"/>
          </a:xfrm>
          <a:prstGeom prst="ellipse">
            <a:avLst/>
          </a:prstGeom>
          <a:solidFill>
            <a:srgbClr val="1A202C"/>
          </a:solidFill>
          <a:ln/>
        </p:spPr>
      </p:sp>
      <p:pic>
        <p:nvPicPr>
          <p:cNvPr id="5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844" y="2891433"/>
            <a:ext cx="214313" cy="171450"/>
          </a:xfrm>
          <a:prstGeom prst="rect">
            <a:avLst/>
          </a:prstGeom>
        </p:spPr>
      </p:pic>
      <p:sp>
        <p:nvSpPr>
          <p:cNvPr id="53" name="Text 47"/>
          <p:cNvSpPr/>
          <p:nvPr/>
        </p:nvSpPr>
        <p:spPr>
          <a:xfrm>
            <a:off x="3943350" y="3170039"/>
            <a:ext cx="1257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Education Development</a:t>
            </a:r>
            <a:endParaRPr lang="en-US" sz="784" dirty="0"/>
          </a:p>
        </p:txBody>
      </p:sp>
      <p:sp>
        <p:nvSpPr>
          <p:cNvPr id="54" name="Text 48"/>
          <p:cNvSpPr/>
          <p:nvPr/>
        </p:nvSpPr>
        <p:spPr>
          <a:xfrm>
            <a:off x="3943350" y="3562945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55" name="Text 49"/>
          <p:cNvSpPr/>
          <p:nvPr/>
        </p:nvSpPr>
        <p:spPr>
          <a:xfrm>
            <a:off x="4029075" y="3570089"/>
            <a:ext cx="116085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Curriculum Implementation</a:t>
            </a:r>
            <a:endParaRPr lang="en-US" sz="568" dirty="0"/>
          </a:p>
        </p:txBody>
      </p:sp>
      <p:sp>
        <p:nvSpPr>
          <p:cNvPr id="56" name="Text 50"/>
          <p:cNvSpPr/>
          <p:nvPr/>
        </p:nvSpPr>
        <p:spPr>
          <a:xfrm>
            <a:off x="3943350" y="3737967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57" name="Text 51"/>
          <p:cNvSpPr/>
          <p:nvPr/>
        </p:nvSpPr>
        <p:spPr>
          <a:xfrm>
            <a:off x="4029075" y="3745111"/>
            <a:ext cx="106799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Teacher Training (SBTD)</a:t>
            </a:r>
            <a:endParaRPr lang="en-US" sz="568" dirty="0"/>
          </a:p>
        </p:txBody>
      </p:sp>
      <p:sp>
        <p:nvSpPr>
          <p:cNvPr id="58" name="Text 52"/>
          <p:cNvSpPr/>
          <p:nvPr/>
        </p:nvSpPr>
        <p:spPr>
          <a:xfrm>
            <a:off x="3943350" y="3912989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59" name="Text 53"/>
          <p:cNvSpPr/>
          <p:nvPr/>
        </p:nvSpPr>
        <p:spPr>
          <a:xfrm>
            <a:off x="4029075" y="3920133"/>
            <a:ext cx="83581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School Improvement</a:t>
            </a:r>
            <a:endParaRPr lang="en-US" sz="568" dirty="0"/>
          </a:p>
        </p:txBody>
      </p:sp>
      <p:sp>
        <p:nvSpPr>
          <p:cNvPr id="60" name="Text 54"/>
          <p:cNvSpPr/>
          <p:nvPr/>
        </p:nvSpPr>
        <p:spPr>
          <a:xfrm>
            <a:off x="3943350" y="4088011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61" name="Text 55"/>
          <p:cNvSpPr/>
          <p:nvPr/>
        </p:nvSpPr>
        <p:spPr>
          <a:xfrm>
            <a:off x="4029075" y="4095155"/>
            <a:ext cx="78938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Quality Assurance</a:t>
            </a:r>
            <a:endParaRPr lang="en-US" sz="568" dirty="0"/>
          </a:p>
        </p:txBody>
      </p:sp>
      <p:sp>
        <p:nvSpPr>
          <p:cNvPr id="62" name="Shape 56"/>
          <p:cNvSpPr/>
          <p:nvPr/>
        </p:nvSpPr>
        <p:spPr>
          <a:xfrm>
            <a:off x="5486400" y="2748558"/>
            <a:ext cx="1543050" cy="16930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57"/>
          <p:cNvSpPr/>
          <p:nvPr/>
        </p:nvSpPr>
        <p:spPr>
          <a:xfrm>
            <a:off x="5486400" y="2748558"/>
            <a:ext cx="154305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4" name="Shape 58"/>
          <p:cNvSpPr/>
          <p:nvPr/>
        </p:nvSpPr>
        <p:spPr>
          <a:xfrm>
            <a:off x="7022306" y="2748558"/>
            <a:ext cx="7144" cy="1693069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65" name="Shape 59"/>
          <p:cNvSpPr/>
          <p:nvPr/>
        </p:nvSpPr>
        <p:spPr>
          <a:xfrm>
            <a:off x="5486400" y="4434483"/>
            <a:ext cx="1543050" cy="7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66" name="Shape 60"/>
          <p:cNvSpPr/>
          <p:nvPr/>
        </p:nvSpPr>
        <p:spPr>
          <a:xfrm>
            <a:off x="5486400" y="2748558"/>
            <a:ext cx="7144" cy="1693069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67" name="Shape 61"/>
          <p:cNvSpPr/>
          <p:nvPr/>
        </p:nvSpPr>
        <p:spPr>
          <a:xfrm>
            <a:off x="6215063" y="2505670"/>
            <a:ext cx="71438" cy="71438"/>
          </a:xfrm>
          <a:prstGeom prst="ellipse">
            <a:avLst/>
          </a:prstGeom>
          <a:solidFill>
            <a:srgbClr val="1A202C"/>
          </a:solidFill>
          <a:ln/>
        </p:spPr>
      </p:sp>
      <p:pic>
        <p:nvPicPr>
          <p:cNvPr id="6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891433"/>
            <a:ext cx="171450" cy="171450"/>
          </a:xfrm>
          <a:prstGeom prst="rect">
            <a:avLst/>
          </a:prstGeom>
        </p:spPr>
      </p:pic>
      <p:sp>
        <p:nvSpPr>
          <p:cNvPr id="69" name="Text 62"/>
          <p:cNvSpPr/>
          <p:nvPr/>
        </p:nvSpPr>
        <p:spPr>
          <a:xfrm>
            <a:off x="5629275" y="3170039"/>
            <a:ext cx="1257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Planning Division</a:t>
            </a:r>
            <a:endParaRPr lang="en-US" sz="784" dirty="0"/>
          </a:p>
        </p:txBody>
      </p:sp>
      <p:sp>
        <p:nvSpPr>
          <p:cNvPr id="70" name="Text 63"/>
          <p:cNvSpPr/>
          <p:nvPr/>
        </p:nvSpPr>
        <p:spPr>
          <a:xfrm>
            <a:off x="5629275" y="3562945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71" name="Text 64"/>
          <p:cNvSpPr/>
          <p:nvPr/>
        </p:nvSpPr>
        <p:spPr>
          <a:xfrm>
            <a:off x="5715000" y="3570089"/>
            <a:ext cx="69651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Data Collection</a:t>
            </a:r>
            <a:endParaRPr lang="en-US" sz="568" dirty="0"/>
          </a:p>
        </p:txBody>
      </p:sp>
      <p:sp>
        <p:nvSpPr>
          <p:cNvPr id="72" name="Text 65"/>
          <p:cNvSpPr/>
          <p:nvPr/>
        </p:nvSpPr>
        <p:spPr>
          <a:xfrm>
            <a:off x="5629275" y="3737967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73" name="Text 66"/>
          <p:cNvSpPr/>
          <p:nvPr/>
        </p:nvSpPr>
        <p:spPr>
          <a:xfrm>
            <a:off x="5715000" y="3745111"/>
            <a:ext cx="92868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Statistical Analysis</a:t>
            </a:r>
            <a:endParaRPr lang="en-US" sz="568" dirty="0"/>
          </a:p>
        </p:txBody>
      </p:sp>
      <p:sp>
        <p:nvSpPr>
          <p:cNvPr id="74" name="Text 67"/>
          <p:cNvSpPr/>
          <p:nvPr/>
        </p:nvSpPr>
        <p:spPr>
          <a:xfrm>
            <a:off x="5629275" y="3912989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75" name="Text 68"/>
          <p:cNvSpPr/>
          <p:nvPr/>
        </p:nvSpPr>
        <p:spPr>
          <a:xfrm>
            <a:off x="5715000" y="3920133"/>
            <a:ext cx="97512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Zonal Education Plans</a:t>
            </a:r>
            <a:endParaRPr lang="en-US" sz="568" dirty="0"/>
          </a:p>
        </p:txBody>
      </p:sp>
      <p:sp>
        <p:nvSpPr>
          <p:cNvPr id="76" name="Text 69"/>
          <p:cNvSpPr/>
          <p:nvPr/>
        </p:nvSpPr>
        <p:spPr>
          <a:xfrm>
            <a:off x="5629275" y="4088011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77" name="Text 70"/>
          <p:cNvSpPr/>
          <p:nvPr/>
        </p:nvSpPr>
        <p:spPr>
          <a:xfrm>
            <a:off x="5715000" y="4095155"/>
            <a:ext cx="7429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Resource Mapping</a:t>
            </a:r>
            <a:endParaRPr lang="en-US" sz="568" dirty="0"/>
          </a:p>
        </p:txBody>
      </p:sp>
      <p:sp>
        <p:nvSpPr>
          <p:cNvPr id="78" name="Shape 71"/>
          <p:cNvSpPr/>
          <p:nvPr/>
        </p:nvSpPr>
        <p:spPr>
          <a:xfrm>
            <a:off x="7172325" y="2748558"/>
            <a:ext cx="1543050" cy="16930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Shape 72"/>
          <p:cNvSpPr/>
          <p:nvPr/>
        </p:nvSpPr>
        <p:spPr>
          <a:xfrm>
            <a:off x="7172325" y="2748558"/>
            <a:ext cx="154305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80" name="Shape 73"/>
          <p:cNvSpPr/>
          <p:nvPr/>
        </p:nvSpPr>
        <p:spPr>
          <a:xfrm>
            <a:off x="8708231" y="2748558"/>
            <a:ext cx="7144" cy="1693069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81" name="Shape 74"/>
          <p:cNvSpPr/>
          <p:nvPr/>
        </p:nvSpPr>
        <p:spPr>
          <a:xfrm>
            <a:off x="7172325" y="4434483"/>
            <a:ext cx="1543050" cy="7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82" name="Shape 75"/>
          <p:cNvSpPr/>
          <p:nvPr/>
        </p:nvSpPr>
        <p:spPr>
          <a:xfrm>
            <a:off x="7172325" y="2748558"/>
            <a:ext cx="7144" cy="1693069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83" name="Shape 76"/>
          <p:cNvSpPr/>
          <p:nvPr/>
        </p:nvSpPr>
        <p:spPr>
          <a:xfrm>
            <a:off x="7900988" y="2505670"/>
            <a:ext cx="71438" cy="71438"/>
          </a:xfrm>
          <a:prstGeom prst="ellipse">
            <a:avLst/>
          </a:prstGeom>
          <a:solidFill>
            <a:srgbClr val="1A202C"/>
          </a:solidFill>
          <a:ln/>
        </p:spPr>
      </p:sp>
      <p:pic>
        <p:nvPicPr>
          <p:cNvPr id="8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9556" y="2891433"/>
            <a:ext cx="128588" cy="171450"/>
          </a:xfrm>
          <a:prstGeom prst="rect">
            <a:avLst/>
          </a:prstGeom>
        </p:spPr>
      </p:pic>
      <p:sp>
        <p:nvSpPr>
          <p:cNvPr id="85" name="Text 77"/>
          <p:cNvSpPr/>
          <p:nvPr/>
        </p:nvSpPr>
        <p:spPr>
          <a:xfrm>
            <a:off x="7315200" y="3170039"/>
            <a:ext cx="1257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Finance Division</a:t>
            </a:r>
            <a:endParaRPr lang="en-US" sz="784" dirty="0"/>
          </a:p>
        </p:txBody>
      </p:sp>
      <p:sp>
        <p:nvSpPr>
          <p:cNvPr id="86" name="Text 78"/>
          <p:cNvSpPr/>
          <p:nvPr/>
        </p:nvSpPr>
        <p:spPr>
          <a:xfrm>
            <a:off x="7315200" y="3562945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87" name="Text 79"/>
          <p:cNvSpPr/>
          <p:nvPr/>
        </p:nvSpPr>
        <p:spPr>
          <a:xfrm>
            <a:off x="7400925" y="3570089"/>
            <a:ext cx="78938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Budget Management</a:t>
            </a:r>
            <a:endParaRPr lang="en-US" sz="568" dirty="0"/>
          </a:p>
        </p:txBody>
      </p:sp>
      <p:sp>
        <p:nvSpPr>
          <p:cNvPr id="88" name="Text 80"/>
          <p:cNvSpPr/>
          <p:nvPr/>
        </p:nvSpPr>
        <p:spPr>
          <a:xfrm>
            <a:off x="7315200" y="3737967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89" name="Text 81"/>
          <p:cNvSpPr/>
          <p:nvPr/>
        </p:nvSpPr>
        <p:spPr>
          <a:xfrm>
            <a:off x="7400925" y="3745111"/>
            <a:ext cx="78938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Salary Processing</a:t>
            </a:r>
            <a:endParaRPr lang="en-US" sz="568" dirty="0"/>
          </a:p>
        </p:txBody>
      </p:sp>
      <p:sp>
        <p:nvSpPr>
          <p:cNvPr id="90" name="Text 82"/>
          <p:cNvSpPr/>
          <p:nvPr/>
        </p:nvSpPr>
        <p:spPr>
          <a:xfrm>
            <a:off x="7315200" y="3912989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91" name="Text 83"/>
          <p:cNvSpPr/>
          <p:nvPr/>
        </p:nvSpPr>
        <p:spPr>
          <a:xfrm>
            <a:off x="7400925" y="3920133"/>
            <a:ext cx="5107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Procurement</a:t>
            </a:r>
            <a:endParaRPr lang="en-US" sz="568" dirty="0"/>
          </a:p>
        </p:txBody>
      </p:sp>
      <p:sp>
        <p:nvSpPr>
          <p:cNvPr id="92" name="Text 84"/>
          <p:cNvSpPr/>
          <p:nvPr/>
        </p:nvSpPr>
        <p:spPr>
          <a:xfrm>
            <a:off x="7315200" y="4088011"/>
            <a:ext cx="464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34" dirty="0"/>
          </a:p>
        </p:txBody>
      </p:sp>
      <p:sp>
        <p:nvSpPr>
          <p:cNvPr id="93" name="Text 85"/>
          <p:cNvSpPr/>
          <p:nvPr/>
        </p:nvSpPr>
        <p:spPr>
          <a:xfrm>
            <a:off x="7400925" y="4095155"/>
            <a:ext cx="7429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Audit Compliance</a:t>
            </a:r>
            <a:endParaRPr lang="en-US" sz="56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9670"/>
            <a:ext cx="95011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CORE FUNCTIONS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8579644" y="219670"/>
            <a:ext cx="1357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06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0" y="571500"/>
            <a:ext cx="9144000" cy="106084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0" y="1625203"/>
            <a:ext cx="9144000" cy="7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857250"/>
            <a:ext cx="6429375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0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ZEOS MANAGE THE ENTIRE LIFECYCLE OF A TEACHER'S CAREER</a:t>
            </a:r>
            <a:endParaRPr lang="en-US" sz="1808" dirty="0"/>
          </a:p>
        </p:txBody>
      </p:sp>
      <p:sp>
        <p:nvSpPr>
          <p:cNvPr id="10" name="Text 7"/>
          <p:cNvSpPr/>
          <p:nvPr/>
        </p:nvSpPr>
        <p:spPr>
          <a:xfrm>
            <a:off x="1339453" y="1696641"/>
            <a:ext cx="410766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CBD5E0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01</a:t>
            </a:r>
            <a:endParaRPr lang="en-US" sz="2436" dirty="0"/>
          </a:p>
        </p:txBody>
      </p:sp>
      <p:sp>
        <p:nvSpPr>
          <p:cNvPr id="11" name="Shape 8"/>
          <p:cNvSpPr/>
          <p:nvPr/>
        </p:nvSpPr>
        <p:spPr>
          <a:xfrm>
            <a:off x="696516" y="1839516"/>
            <a:ext cx="428625" cy="428625"/>
          </a:xfrm>
          <a:prstGeom prst="ellipse">
            <a:avLst/>
          </a:prstGeom>
          <a:solidFill>
            <a:srgbClr val="2D3748"/>
          </a:solidFill>
          <a:ln w="18288">
            <a:solidFill>
              <a:srgbClr val="3182C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672" y="1968103"/>
            <a:ext cx="214313" cy="171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2875" y="2378171"/>
            <a:ext cx="812602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Recruitment &amp;</a:t>
            </a:r>
            <a:endParaRPr lang="en-US" sz="885" dirty="0"/>
          </a:p>
        </p:txBody>
      </p:sp>
      <p:sp>
        <p:nvSpPr>
          <p:cNvPr id="14" name="Text 10"/>
          <p:cNvSpPr/>
          <p:nvPr/>
        </p:nvSpPr>
        <p:spPr>
          <a:xfrm>
            <a:off x="955477" y="2455301"/>
            <a:ext cx="723305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Deployment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142875" y="2868216"/>
            <a:ext cx="1535906" cy="25717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Identify vacancies and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place new teachers</a:t>
            </a:r>
            <a:endParaRPr lang="en-US" sz="621" dirty="0"/>
          </a:p>
        </p:txBody>
      </p:sp>
      <p:sp>
        <p:nvSpPr>
          <p:cNvPr id="16" name="Text 12"/>
          <p:cNvSpPr/>
          <p:nvPr/>
        </p:nvSpPr>
        <p:spPr>
          <a:xfrm>
            <a:off x="142875" y="3232547"/>
            <a:ext cx="1535906" cy="25717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Address imbalances (surplus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vs. shortage)</a:t>
            </a:r>
            <a:endParaRPr lang="en-US" sz="621" dirty="0"/>
          </a:p>
        </p:txBody>
      </p:sp>
      <p:sp>
        <p:nvSpPr>
          <p:cNvPr id="17" name="Shape 13"/>
          <p:cNvSpPr/>
          <p:nvPr/>
        </p:nvSpPr>
        <p:spPr>
          <a:xfrm>
            <a:off x="1828800" y="1625203"/>
            <a:ext cx="1828800" cy="3518297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Shape 14"/>
          <p:cNvSpPr/>
          <p:nvPr/>
        </p:nvSpPr>
        <p:spPr>
          <a:xfrm>
            <a:off x="3650456" y="1625203"/>
            <a:ext cx="7144" cy="3518297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19" name="Text 15"/>
          <p:cNvSpPr/>
          <p:nvPr/>
        </p:nvSpPr>
        <p:spPr>
          <a:xfrm>
            <a:off x="142875" y="2868216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84" dirty="0"/>
          </a:p>
        </p:txBody>
      </p:sp>
      <p:sp>
        <p:nvSpPr>
          <p:cNvPr id="20" name="Text 16"/>
          <p:cNvSpPr/>
          <p:nvPr/>
        </p:nvSpPr>
        <p:spPr>
          <a:xfrm>
            <a:off x="142875" y="3232547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84" dirty="0"/>
          </a:p>
        </p:txBody>
      </p:sp>
      <p:sp>
        <p:nvSpPr>
          <p:cNvPr id="21" name="Text 17"/>
          <p:cNvSpPr/>
          <p:nvPr/>
        </p:nvSpPr>
        <p:spPr>
          <a:xfrm>
            <a:off x="3175397" y="1696641"/>
            <a:ext cx="410766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CBD5E0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02</a:t>
            </a:r>
            <a:endParaRPr lang="en-US" sz="2436" dirty="0"/>
          </a:p>
        </p:txBody>
      </p:sp>
      <p:sp>
        <p:nvSpPr>
          <p:cNvPr id="22" name="Shape 18"/>
          <p:cNvSpPr/>
          <p:nvPr/>
        </p:nvSpPr>
        <p:spPr>
          <a:xfrm>
            <a:off x="2528888" y="1839516"/>
            <a:ext cx="428625" cy="428625"/>
          </a:xfrm>
          <a:prstGeom prst="ellipse">
            <a:avLst/>
          </a:prstGeom>
          <a:solidFill>
            <a:srgbClr val="2D3748"/>
          </a:solidFill>
          <a:ln w="18288">
            <a:solidFill>
              <a:srgbClr val="3182C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7475" y="1968103"/>
            <a:ext cx="171450" cy="1714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062758" y="2455301"/>
            <a:ext cx="678656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Transfers &amp;</a:t>
            </a:r>
            <a:endParaRPr lang="en-US" sz="885" dirty="0"/>
          </a:p>
        </p:txBody>
      </p:sp>
      <p:sp>
        <p:nvSpPr>
          <p:cNvPr id="25" name="Text 20"/>
          <p:cNvSpPr/>
          <p:nvPr/>
        </p:nvSpPr>
        <p:spPr>
          <a:xfrm>
            <a:off x="2741414" y="2455301"/>
            <a:ext cx="682228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Promotions</a:t>
            </a:r>
            <a:endParaRPr lang="en-US" sz="885" dirty="0"/>
          </a:p>
        </p:txBody>
      </p:sp>
      <p:sp>
        <p:nvSpPr>
          <p:cNvPr id="26" name="Text 21"/>
          <p:cNvSpPr/>
          <p:nvPr/>
        </p:nvSpPr>
        <p:spPr>
          <a:xfrm>
            <a:off x="1971675" y="2868216"/>
            <a:ext cx="1543050" cy="25717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Process inter-school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transfers</a:t>
            </a:r>
            <a:endParaRPr lang="en-US" sz="621" dirty="0"/>
          </a:p>
        </p:txBody>
      </p:sp>
      <p:sp>
        <p:nvSpPr>
          <p:cNvPr id="27" name="Text 22"/>
          <p:cNvSpPr/>
          <p:nvPr/>
        </p:nvSpPr>
        <p:spPr>
          <a:xfrm>
            <a:off x="1971675" y="3232547"/>
            <a:ext cx="1543050" cy="25717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Manage career promotions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for teachers and principals</a:t>
            </a:r>
            <a:endParaRPr lang="en-US" sz="621" dirty="0"/>
          </a:p>
        </p:txBody>
      </p:sp>
      <p:sp>
        <p:nvSpPr>
          <p:cNvPr id="28" name="Text 23"/>
          <p:cNvSpPr/>
          <p:nvPr/>
        </p:nvSpPr>
        <p:spPr>
          <a:xfrm>
            <a:off x="1971675" y="2868216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84" dirty="0"/>
          </a:p>
        </p:txBody>
      </p:sp>
      <p:sp>
        <p:nvSpPr>
          <p:cNvPr id="29" name="Text 24"/>
          <p:cNvSpPr/>
          <p:nvPr/>
        </p:nvSpPr>
        <p:spPr>
          <a:xfrm>
            <a:off x="1971675" y="3232547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84" dirty="0"/>
          </a:p>
        </p:txBody>
      </p:sp>
      <p:sp>
        <p:nvSpPr>
          <p:cNvPr id="30" name="Text 25"/>
          <p:cNvSpPr/>
          <p:nvPr/>
        </p:nvSpPr>
        <p:spPr>
          <a:xfrm>
            <a:off x="4997053" y="1696641"/>
            <a:ext cx="410766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CBD5E0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03</a:t>
            </a:r>
            <a:endParaRPr lang="en-US" sz="2436" dirty="0"/>
          </a:p>
        </p:txBody>
      </p:sp>
      <p:sp>
        <p:nvSpPr>
          <p:cNvPr id="31" name="Shape 26"/>
          <p:cNvSpPr/>
          <p:nvPr/>
        </p:nvSpPr>
        <p:spPr>
          <a:xfrm>
            <a:off x="4354116" y="1839516"/>
            <a:ext cx="428625" cy="428625"/>
          </a:xfrm>
          <a:prstGeom prst="ellipse">
            <a:avLst/>
          </a:prstGeom>
          <a:solidFill>
            <a:srgbClr val="2D3748"/>
          </a:solidFill>
          <a:ln w="18288">
            <a:solidFill>
              <a:srgbClr val="3182CE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272" y="1968103"/>
            <a:ext cx="214313" cy="17145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3803154" y="2455301"/>
            <a:ext cx="735806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Professional</a:t>
            </a:r>
            <a:endParaRPr lang="en-US" sz="885" dirty="0"/>
          </a:p>
        </p:txBody>
      </p:sp>
      <p:sp>
        <p:nvSpPr>
          <p:cNvPr id="34" name="Text 28"/>
          <p:cNvSpPr/>
          <p:nvPr/>
        </p:nvSpPr>
        <p:spPr>
          <a:xfrm>
            <a:off x="4538960" y="2455301"/>
            <a:ext cx="794742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Development</a:t>
            </a:r>
            <a:endParaRPr lang="en-US" sz="885" dirty="0"/>
          </a:p>
        </p:txBody>
      </p:sp>
      <p:sp>
        <p:nvSpPr>
          <p:cNvPr id="35" name="Text 29"/>
          <p:cNvSpPr/>
          <p:nvPr/>
        </p:nvSpPr>
        <p:spPr>
          <a:xfrm>
            <a:off x="3800475" y="2868216"/>
            <a:ext cx="1535906" cy="25717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Facilitate in-service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training</a:t>
            </a:r>
            <a:endParaRPr lang="en-US" sz="621" dirty="0"/>
          </a:p>
        </p:txBody>
      </p:sp>
      <p:sp>
        <p:nvSpPr>
          <p:cNvPr id="36" name="Text 30"/>
          <p:cNvSpPr/>
          <p:nvPr/>
        </p:nvSpPr>
        <p:spPr>
          <a:xfrm>
            <a:off x="3800475" y="3232547"/>
            <a:ext cx="1535906" cy="25717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Implement School-Based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Teacher Development (SBTD)</a:t>
            </a:r>
            <a:endParaRPr lang="en-US" sz="621" dirty="0"/>
          </a:p>
        </p:txBody>
      </p:sp>
      <p:sp>
        <p:nvSpPr>
          <p:cNvPr id="37" name="Shape 31"/>
          <p:cNvSpPr/>
          <p:nvPr/>
        </p:nvSpPr>
        <p:spPr>
          <a:xfrm>
            <a:off x="5486400" y="1625203"/>
            <a:ext cx="1828800" cy="3518297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8" name="Shape 32"/>
          <p:cNvSpPr/>
          <p:nvPr/>
        </p:nvSpPr>
        <p:spPr>
          <a:xfrm>
            <a:off x="7308056" y="1625203"/>
            <a:ext cx="7144" cy="3518297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39" name="Text 33"/>
          <p:cNvSpPr/>
          <p:nvPr/>
        </p:nvSpPr>
        <p:spPr>
          <a:xfrm>
            <a:off x="3800475" y="2868216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84" dirty="0"/>
          </a:p>
        </p:txBody>
      </p:sp>
      <p:sp>
        <p:nvSpPr>
          <p:cNvPr id="40" name="Text 34"/>
          <p:cNvSpPr/>
          <p:nvPr/>
        </p:nvSpPr>
        <p:spPr>
          <a:xfrm>
            <a:off x="3800475" y="3232547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84" dirty="0"/>
          </a:p>
        </p:txBody>
      </p:sp>
      <p:sp>
        <p:nvSpPr>
          <p:cNvPr id="41" name="Text 35"/>
          <p:cNvSpPr/>
          <p:nvPr/>
        </p:nvSpPr>
        <p:spPr>
          <a:xfrm>
            <a:off x="6832997" y="1696641"/>
            <a:ext cx="410766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CBD5E0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04</a:t>
            </a:r>
            <a:endParaRPr lang="en-US" sz="2436" dirty="0"/>
          </a:p>
        </p:txBody>
      </p:sp>
      <p:sp>
        <p:nvSpPr>
          <p:cNvPr id="42" name="Shape 36"/>
          <p:cNvSpPr/>
          <p:nvPr/>
        </p:nvSpPr>
        <p:spPr>
          <a:xfrm>
            <a:off x="6186488" y="1839516"/>
            <a:ext cx="428625" cy="428625"/>
          </a:xfrm>
          <a:prstGeom prst="ellipse">
            <a:avLst/>
          </a:prstGeom>
          <a:solidFill>
            <a:srgbClr val="2D3748"/>
          </a:solidFill>
          <a:ln w="18288">
            <a:solidFill>
              <a:srgbClr val="3182CE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5791" y="1968103"/>
            <a:ext cx="150019" cy="171450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639991" y="2455301"/>
            <a:ext cx="614363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In-Service</a:t>
            </a:r>
            <a:endParaRPr lang="en-US" sz="885" dirty="0"/>
          </a:p>
        </p:txBody>
      </p:sp>
      <p:sp>
        <p:nvSpPr>
          <p:cNvPr id="45" name="Text 38"/>
          <p:cNvSpPr/>
          <p:nvPr/>
        </p:nvSpPr>
        <p:spPr>
          <a:xfrm>
            <a:off x="6254353" y="2455301"/>
            <a:ext cx="907256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Advisors (ISAs)</a:t>
            </a:r>
            <a:endParaRPr lang="en-US" sz="885" dirty="0"/>
          </a:p>
        </p:txBody>
      </p:sp>
      <p:sp>
        <p:nvSpPr>
          <p:cNvPr id="46" name="Text 39"/>
          <p:cNvSpPr/>
          <p:nvPr/>
        </p:nvSpPr>
        <p:spPr>
          <a:xfrm>
            <a:off x="5629275" y="2868216"/>
            <a:ext cx="1543050" cy="25717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Specialized mentors based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at zonal level</a:t>
            </a:r>
            <a:endParaRPr lang="en-US" sz="621" dirty="0"/>
          </a:p>
        </p:txBody>
      </p:sp>
      <p:sp>
        <p:nvSpPr>
          <p:cNvPr id="47" name="Text 40"/>
          <p:cNvSpPr/>
          <p:nvPr/>
        </p:nvSpPr>
        <p:spPr>
          <a:xfrm>
            <a:off x="5629275" y="3232547"/>
            <a:ext cx="1543050" cy="25717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Deliver training and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introduce reforms</a:t>
            </a:r>
            <a:endParaRPr lang="en-US" sz="621" dirty="0"/>
          </a:p>
        </p:txBody>
      </p:sp>
      <p:sp>
        <p:nvSpPr>
          <p:cNvPr id="48" name="Shape 41"/>
          <p:cNvSpPr/>
          <p:nvPr/>
        </p:nvSpPr>
        <p:spPr>
          <a:xfrm>
            <a:off x="5629275" y="4507706"/>
            <a:ext cx="1543050" cy="421481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49" name="Shape 42"/>
          <p:cNvSpPr/>
          <p:nvPr/>
        </p:nvSpPr>
        <p:spPr>
          <a:xfrm>
            <a:off x="5629275" y="4507706"/>
            <a:ext cx="28575" cy="421481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50" name="Text 43"/>
          <p:cNvSpPr/>
          <p:nvPr/>
        </p:nvSpPr>
        <p:spPr>
          <a:xfrm>
            <a:off x="5629275" y="4507706"/>
            <a:ext cx="1543050" cy="42148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4,971 teachers expected to join the new ISA service</a:t>
            </a:r>
            <a:endParaRPr lang="en-US" sz="568" dirty="0"/>
          </a:p>
        </p:txBody>
      </p:sp>
      <p:sp>
        <p:nvSpPr>
          <p:cNvPr id="51" name="Text 44"/>
          <p:cNvSpPr/>
          <p:nvPr/>
        </p:nvSpPr>
        <p:spPr>
          <a:xfrm>
            <a:off x="5629275" y="2868216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84" dirty="0"/>
          </a:p>
        </p:txBody>
      </p:sp>
      <p:sp>
        <p:nvSpPr>
          <p:cNvPr id="52" name="Text 45"/>
          <p:cNvSpPr/>
          <p:nvPr/>
        </p:nvSpPr>
        <p:spPr>
          <a:xfrm>
            <a:off x="5629275" y="3232547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84" dirty="0"/>
          </a:p>
        </p:txBody>
      </p:sp>
      <p:sp>
        <p:nvSpPr>
          <p:cNvPr id="53" name="Text 46"/>
          <p:cNvSpPr/>
          <p:nvPr/>
        </p:nvSpPr>
        <p:spPr>
          <a:xfrm>
            <a:off x="8661797" y="1696641"/>
            <a:ext cx="410766" cy="4518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CBD5E0">
                    <a:alpha val="50000"/>
                  </a:srgbClr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05</a:t>
            </a:r>
            <a:endParaRPr lang="en-US" sz="2436" dirty="0"/>
          </a:p>
        </p:txBody>
      </p:sp>
      <p:sp>
        <p:nvSpPr>
          <p:cNvPr id="54" name="Shape 47"/>
          <p:cNvSpPr/>
          <p:nvPr/>
        </p:nvSpPr>
        <p:spPr>
          <a:xfrm>
            <a:off x="8015288" y="1839516"/>
            <a:ext cx="428625" cy="428625"/>
          </a:xfrm>
          <a:prstGeom prst="ellipse">
            <a:avLst/>
          </a:prstGeom>
          <a:solidFill>
            <a:srgbClr val="2D3748"/>
          </a:solidFill>
          <a:ln w="18288">
            <a:solidFill>
              <a:srgbClr val="3182CE"/>
            </a:solidFill>
            <a:prstDash val="solid"/>
          </a:ln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306" y="1968103"/>
            <a:ext cx="128588" cy="171450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7776865" y="2455301"/>
            <a:ext cx="419695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Record</a:t>
            </a:r>
            <a:endParaRPr lang="en-US" sz="885" dirty="0"/>
          </a:p>
        </p:txBody>
      </p:sp>
      <p:sp>
        <p:nvSpPr>
          <p:cNvPr id="57" name="Text 49"/>
          <p:cNvSpPr/>
          <p:nvPr/>
        </p:nvSpPr>
        <p:spPr>
          <a:xfrm>
            <a:off x="8196560" y="2455301"/>
            <a:ext cx="485775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Keeping</a:t>
            </a:r>
            <a:endParaRPr lang="en-US" sz="885" dirty="0"/>
          </a:p>
        </p:txBody>
      </p:sp>
      <p:sp>
        <p:nvSpPr>
          <p:cNvPr id="58" name="Text 50"/>
          <p:cNvSpPr/>
          <p:nvPr/>
        </p:nvSpPr>
        <p:spPr>
          <a:xfrm>
            <a:off x="7458075" y="2868216"/>
            <a:ext cx="1543050" cy="25717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Maintain personal service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files</a:t>
            </a:r>
            <a:endParaRPr lang="en-US" sz="621" dirty="0"/>
          </a:p>
        </p:txBody>
      </p:sp>
      <p:sp>
        <p:nvSpPr>
          <p:cNvPr id="59" name="Text 51"/>
          <p:cNvSpPr/>
          <p:nvPr/>
        </p:nvSpPr>
        <p:spPr>
          <a:xfrm>
            <a:off x="7458075" y="3232547"/>
            <a:ext cx="1543050" cy="257175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Track salary increments and </a:t>
            </a:r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loan approvals</a:t>
            </a:r>
            <a:endParaRPr lang="en-US" sz="621" dirty="0"/>
          </a:p>
        </p:txBody>
      </p:sp>
      <p:sp>
        <p:nvSpPr>
          <p:cNvPr id="60" name="Text 52"/>
          <p:cNvSpPr/>
          <p:nvPr/>
        </p:nvSpPr>
        <p:spPr>
          <a:xfrm>
            <a:off x="7458075" y="2868216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84" dirty="0"/>
          </a:p>
        </p:txBody>
      </p:sp>
      <p:sp>
        <p:nvSpPr>
          <p:cNvPr id="61" name="Text 53"/>
          <p:cNvSpPr/>
          <p:nvPr/>
        </p:nvSpPr>
        <p:spPr>
          <a:xfrm>
            <a:off x="7458075" y="3232547"/>
            <a:ext cx="517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3182C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&gt;</a:t>
            </a:r>
            <a:endParaRPr lang="en-US" sz="5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9670"/>
            <a:ext cx="115371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QUALITY ASSURANCE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8579644" y="219670"/>
            <a:ext cx="1357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07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0" y="571500"/>
            <a:ext cx="2857500" cy="4572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5"/>
          <p:cNvSpPr/>
          <p:nvPr/>
        </p:nvSpPr>
        <p:spPr>
          <a:xfrm>
            <a:off x="2843213" y="571500"/>
            <a:ext cx="14288" cy="45720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571500"/>
            <a:ext cx="2843213" cy="4572000"/>
          </a:xfrm>
          <a:prstGeom prst="rect">
            <a:avLst/>
          </a:prstGeom>
          <a:solidFill>
            <a:srgbClr val="CBD5E0">
              <a:alpha val="3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85750" y="1784570"/>
            <a:ext cx="2286000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dirty="0">
                <a:solidFill>
                  <a:srgbClr val="1A20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ENSURING EDUCATIONAL QUALITY</a:t>
            </a:r>
            <a:endParaRPr lang="en-US" sz="2436" dirty="0"/>
          </a:p>
        </p:txBody>
      </p:sp>
      <p:sp>
        <p:nvSpPr>
          <p:cNvPr id="11" name="Text 8"/>
          <p:cNvSpPr/>
          <p:nvPr/>
        </p:nvSpPr>
        <p:spPr>
          <a:xfrm>
            <a:off x="285750" y="3130386"/>
            <a:ext cx="2286000" cy="80004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Zonal Education Offices employ a multi-faceted approach to supervision, combining direct monitoring with data-driven strategy and school empowerment.</a:t>
            </a: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3286125" y="1000125"/>
            <a:ext cx="2607469" cy="1750219"/>
          </a:xfrm>
          <a:prstGeom prst="rect">
            <a:avLst/>
          </a:prstGeom>
          <a:solidFill>
            <a:srgbClr val="FFFFFF"/>
          </a:solidFill>
          <a:ln w="18288">
            <a:solidFill>
              <a:srgbClr val="A0AEC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286375" y="914400"/>
            <a:ext cx="464344" cy="15180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4" name="Text 11"/>
          <p:cNvSpPr/>
          <p:nvPr/>
        </p:nvSpPr>
        <p:spPr>
          <a:xfrm>
            <a:off x="5286375" y="914400"/>
            <a:ext cx="464344" cy="15180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MECH-01</a:t>
            </a:r>
            <a:endParaRPr lang="en-US" sz="516" dirty="0"/>
          </a:p>
        </p:txBody>
      </p:sp>
      <p:sp>
        <p:nvSpPr>
          <p:cNvPr id="15" name="Shape 12"/>
          <p:cNvSpPr/>
          <p:nvPr/>
        </p:nvSpPr>
        <p:spPr>
          <a:xfrm>
            <a:off x="3500438" y="1214438"/>
            <a:ext cx="285750" cy="285750"/>
          </a:xfrm>
          <a:prstGeom prst="rect">
            <a:avLst/>
          </a:prstGeom>
          <a:solidFill>
            <a:srgbClr val="EBF8FF"/>
          </a:solidFill>
          <a:ln w="9144">
            <a:solidFill>
              <a:srgbClr val="3182CE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588" y="1271588"/>
            <a:ext cx="171450" cy="17145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93344" y="1270695"/>
            <a:ext cx="1316236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FIELD SUPERVISION</a:t>
            </a:r>
            <a:endParaRPr lang="en-US" sz="987" dirty="0"/>
          </a:p>
        </p:txBody>
      </p:sp>
      <p:sp>
        <p:nvSpPr>
          <p:cNvPr id="18" name="Text 14"/>
          <p:cNvSpPr/>
          <p:nvPr/>
        </p:nvSpPr>
        <p:spPr>
          <a:xfrm>
            <a:off x="3500438" y="1757363"/>
            <a:ext cx="2178844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Regular field visits by Zonal Directors, Deputy Directors, and In-Service Advisors (ISAs) to monitor curriculum implementation, teaching methodology, and classroom quality.</a:t>
            </a:r>
            <a:endParaRPr lang="en-US" sz="674" dirty="0"/>
          </a:p>
        </p:txBody>
      </p:sp>
      <p:sp>
        <p:nvSpPr>
          <p:cNvPr id="19" name="Shape 15"/>
          <p:cNvSpPr/>
          <p:nvPr/>
        </p:nvSpPr>
        <p:spPr>
          <a:xfrm>
            <a:off x="6107906" y="1000125"/>
            <a:ext cx="2607469" cy="1750219"/>
          </a:xfrm>
          <a:prstGeom prst="rect">
            <a:avLst/>
          </a:prstGeom>
          <a:solidFill>
            <a:srgbClr val="FFFFFF"/>
          </a:solidFill>
          <a:ln w="18288">
            <a:solidFill>
              <a:srgbClr val="A0AEC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108156" y="914400"/>
            <a:ext cx="464344" cy="15180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1" name="Text 17"/>
          <p:cNvSpPr/>
          <p:nvPr/>
        </p:nvSpPr>
        <p:spPr>
          <a:xfrm>
            <a:off x="8108156" y="914400"/>
            <a:ext cx="464344" cy="15180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MECH-02</a:t>
            </a:r>
            <a:endParaRPr lang="en-US" sz="516" dirty="0"/>
          </a:p>
        </p:txBody>
      </p:sp>
      <p:sp>
        <p:nvSpPr>
          <p:cNvPr id="22" name="Shape 18"/>
          <p:cNvSpPr/>
          <p:nvPr/>
        </p:nvSpPr>
        <p:spPr>
          <a:xfrm>
            <a:off x="6322219" y="1214438"/>
            <a:ext cx="285750" cy="285750"/>
          </a:xfrm>
          <a:prstGeom prst="rect">
            <a:avLst/>
          </a:prstGeom>
          <a:solidFill>
            <a:srgbClr val="EBF8FF"/>
          </a:solidFill>
          <a:ln w="9144">
            <a:solidFill>
              <a:srgbClr val="3182CE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369" y="1271588"/>
            <a:ext cx="171450" cy="17145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15125" y="1270695"/>
            <a:ext cx="121979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ACCOUNTABILITY</a:t>
            </a:r>
            <a:endParaRPr lang="en-US" sz="987" dirty="0"/>
          </a:p>
        </p:txBody>
      </p:sp>
      <p:sp>
        <p:nvSpPr>
          <p:cNvPr id="25" name="Text 20"/>
          <p:cNvSpPr/>
          <p:nvPr/>
        </p:nvSpPr>
        <p:spPr>
          <a:xfrm>
            <a:off x="6322219" y="1757363"/>
            <a:ext cx="2178844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Zonal Directors hold the authority to take disciplinary action against underperforming principals, including replacement, ensuring leadership accountability at the school level.</a:t>
            </a:r>
            <a:endParaRPr lang="en-US" sz="674" dirty="0"/>
          </a:p>
        </p:txBody>
      </p:sp>
      <p:sp>
        <p:nvSpPr>
          <p:cNvPr id="26" name="Shape 21"/>
          <p:cNvSpPr/>
          <p:nvPr/>
        </p:nvSpPr>
        <p:spPr>
          <a:xfrm>
            <a:off x="3286125" y="2964656"/>
            <a:ext cx="2607469" cy="1750219"/>
          </a:xfrm>
          <a:prstGeom prst="rect">
            <a:avLst/>
          </a:prstGeom>
          <a:solidFill>
            <a:srgbClr val="FFFFFF"/>
          </a:solidFill>
          <a:ln w="18288">
            <a:solidFill>
              <a:srgbClr val="A0AEC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286375" y="2878931"/>
            <a:ext cx="464344" cy="15180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8" name="Text 23"/>
          <p:cNvSpPr/>
          <p:nvPr/>
        </p:nvSpPr>
        <p:spPr>
          <a:xfrm>
            <a:off x="5286375" y="2878931"/>
            <a:ext cx="464344" cy="15180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MECH-03</a:t>
            </a:r>
            <a:endParaRPr lang="en-US" sz="516" dirty="0"/>
          </a:p>
        </p:txBody>
      </p:sp>
      <p:sp>
        <p:nvSpPr>
          <p:cNvPr id="29" name="Shape 24"/>
          <p:cNvSpPr/>
          <p:nvPr/>
        </p:nvSpPr>
        <p:spPr>
          <a:xfrm>
            <a:off x="3500438" y="3178969"/>
            <a:ext cx="285750" cy="285750"/>
          </a:xfrm>
          <a:prstGeom prst="rect">
            <a:avLst/>
          </a:prstGeom>
          <a:solidFill>
            <a:srgbClr val="EBF8FF"/>
          </a:solidFill>
          <a:ln w="9144">
            <a:solidFill>
              <a:srgbClr val="3182CE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156" y="3236119"/>
            <a:ext cx="214313" cy="17145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3893344" y="3235226"/>
            <a:ext cx="172878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SCHOOL EMPOWERMENT</a:t>
            </a:r>
            <a:endParaRPr lang="en-US" sz="987" dirty="0"/>
          </a:p>
        </p:txBody>
      </p:sp>
      <p:sp>
        <p:nvSpPr>
          <p:cNvPr id="32" name="Text 26"/>
          <p:cNvSpPr/>
          <p:nvPr/>
        </p:nvSpPr>
        <p:spPr>
          <a:xfrm>
            <a:off x="3500438" y="3721894"/>
            <a:ext cx="2178844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Implementation of the Programme for School Improvement (PSI). Empowering School Development Committees (SDCs) and Management Teams (SMTs) to drive local improvements.</a:t>
            </a:r>
            <a:endParaRPr lang="en-US" sz="674" dirty="0"/>
          </a:p>
        </p:txBody>
      </p:sp>
      <p:sp>
        <p:nvSpPr>
          <p:cNvPr id="33" name="Shape 27"/>
          <p:cNvSpPr/>
          <p:nvPr/>
        </p:nvSpPr>
        <p:spPr>
          <a:xfrm>
            <a:off x="6107906" y="2964656"/>
            <a:ext cx="2607469" cy="1750219"/>
          </a:xfrm>
          <a:prstGeom prst="rect">
            <a:avLst/>
          </a:prstGeom>
          <a:solidFill>
            <a:srgbClr val="FFFFFF"/>
          </a:solidFill>
          <a:ln w="18288">
            <a:solidFill>
              <a:srgbClr val="A0AEC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108156" y="2878931"/>
            <a:ext cx="464344" cy="151805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5" name="Text 29"/>
          <p:cNvSpPr/>
          <p:nvPr/>
        </p:nvSpPr>
        <p:spPr>
          <a:xfrm>
            <a:off x="8108156" y="2878931"/>
            <a:ext cx="464344" cy="15180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MECH-04</a:t>
            </a:r>
            <a:endParaRPr lang="en-US" sz="516" dirty="0"/>
          </a:p>
        </p:txBody>
      </p:sp>
      <p:sp>
        <p:nvSpPr>
          <p:cNvPr id="36" name="Shape 30"/>
          <p:cNvSpPr/>
          <p:nvPr/>
        </p:nvSpPr>
        <p:spPr>
          <a:xfrm>
            <a:off x="6322219" y="3178969"/>
            <a:ext cx="285750" cy="285750"/>
          </a:xfrm>
          <a:prstGeom prst="rect">
            <a:avLst/>
          </a:prstGeom>
          <a:solidFill>
            <a:srgbClr val="EBF8FF"/>
          </a:solidFill>
          <a:ln w="9144">
            <a:solidFill>
              <a:srgbClr val="3182CE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369" y="3236119"/>
            <a:ext cx="171450" cy="17145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715125" y="3235226"/>
            <a:ext cx="112335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DATA STRATEGY</a:t>
            </a:r>
            <a:endParaRPr lang="en-US" sz="987" dirty="0"/>
          </a:p>
        </p:txBody>
      </p:sp>
      <p:sp>
        <p:nvSpPr>
          <p:cNvPr id="39" name="Text 32"/>
          <p:cNvSpPr/>
          <p:nvPr/>
        </p:nvSpPr>
        <p:spPr>
          <a:xfrm>
            <a:off x="6322219" y="3721894"/>
            <a:ext cx="2178844" cy="77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Systematic collection and analysis of student assessment data to identify learning gaps. This data informs the development of targeted three-year zonal action plans.</a:t>
            </a:r>
            <a:endParaRPr lang="en-US" sz="67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9670"/>
            <a:ext cx="176450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STUDENT SERVICES &amp; WELFARE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8579644" y="219670"/>
            <a:ext cx="1357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08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857250"/>
            <a:ext cx="6429375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0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ZEOS ADMINISTER SCHOLARSHIPS, EXAMINATIONS, AND WELFARE PROGRAMS</a:t>
            </a:r>
            <a:endParaRPr lang="en-US" sz="1808" dirty="0"/>
          </a:p>
        </p:txBody>
      </p:sp>
      <p:sp>
        <p:nvSpPr>
          <p:cNvPr id="8" name="Shape 5"/>
          <p:cNvSpPr/>
          <p:nvPr/>
        </p:nvSpPr>
        <p:spPr>
          <a:xfrm>
            <a:off x="428625" y="1617334"/>
            <a:ext cx="2676506" cy="1698789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8638" y="1717346"/>
            <a:ext cx="357188" cy="357188"/>
          </a:xfrm>
          <a:prstGeom prst="rect">
            <a:avLst/>
          </a:prstGeom>
          <a:solidFill>
            <a:srgbClr val="EDF2F7"/>
          </a:solidFill>
          <a:ln w="9144">
            <a:solidFill>
              <a:srgbClr val="CBD5E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810215"/>
            <a:ext cx="214313" cy="171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28638" y="2160259"/>
            <a:ext cx="247648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ENROLLMENT &amp; ADMISSIONS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528638" y="2404932"/>
            <a:ext cx="2476481" cy="811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Supervising and regulating the student admission process to ensure fairness, transparency, and adherence to national circulars.</a:t>
            </a:r>
            <a:endParaRPr lang="en-US" sz="674" dirty="0"/>
          </a:p>
        </p:txBody>
      </p:sp>
      <p:sp>
        <p:nvSpPr>
          <p:cNvPr id="13" name="Shape 9"/>
          <p:cNvSpPr/>
          <p:nvPr/>
        </p:nvSpPr>
        <p:spPr>
          <a:xfrm>
            <a:off x="3233719" y="1617334"/>
            <a:ext cx="2676534" cy="1698789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333731" y="1717346"/>
            <a:ext cx="357188" cy="357188"/>
          </a:xfrm>
          <a:prstGeom prst="rect">
            <a:avLst/>
          </a:prstGeom>
          <a:solidFill>
            <a:srgbClr val="EDF2F7"/>
          </a:solidFill>
          <a:ln w="9144">
            <a:solidFill>
              <a:srgbClr val="CBD5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031" y="1810215"/>
            <a:ext cx="128588" cy="1714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33731" y="2160259"/>
            <a:ext cx="247650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PUBLIC EXAMINATIONS</a:t>
            </a:r>
            <a:endParaRPr lang="en-US" sz="987" dirty="0"/>
          </a:p>
        </p:txBody>
      </p:sp>
      <p:sp>
        <p:nvSpPr>
          <p:cNvPr id="17" name="Text 12"/>
          <p:cNvSpPr/>
          <p:nvPr/>
        </p:nvSpPr>
        <p:spPr>
          <a:xfrm>
            <a:off x="3333731" y="2404932"/>
            <a:ext cx="2476509" cy="811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Facilitating the local administration of national exams (G.C.E. O/L and A/L), coordinating centers, and ensuring security.</a:t>
            </a:r>
            <a:endParaRPr lang="en-US" sz="674" dirty="0"/>
          </a:p>
        </p:txBody>
      </p:sp>
      <p:sp>
        <p:nvSpPr>
          <p:cNvPr id="18" name="Shape 13"/>
          <p:cNvSpPr/>
          <p:nvPr/>
        </p:nvSpPr>
        <p:spPr>
          <a:xfrm>
            <a:off x="6038841" y="1617334"/>
            <a:ext cx="2676506" cy="1698789"/>
          </a:xfrm>
          <a:prstGeom prst="rect">
            <a:avLst/>
          </a:prstGeom>
          <a:solidFill>
            <a:srgbClr val="F7FAFC"/>
          </a:solidFill>
          <a:ln w="18288">
            <a:solidFill>
              <a:srgbClr val="3182C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38853" y="1717346"/>
            <a:ext cx="357188" cy="357188"/>
          </a:xfrm>
          <a:prstGeom prst="rect">
            <a:avLst/>
          </a:prstGeom>
          <a:solidFill>
            <a:srgbClr val="3182CE"/>
          </a:solidFill>
          <a:ln w="9144">
            <a:solidFill>
              <a:srgbClr val="2B6CB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291" y="1810215"/>
            <a:ext cx="214313" cy="1714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38853" y="2160259"/>
            <a:ext cx="247648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SCHOLARSHIPS</a:t>
            </a:r>
            <a:endParaRPr lang="en-US" sz="987" dirty="0"/>
          </a:p>
        </p:txBody>
      </p:sp>
      <p:sp>
        <p:nvSpPr>
          <p:cNvPr id="22" name="Text 16"/>
          <p:cNvSpPr/>
          <p:nvPr/>
        </p:nvSpPr>
        <p:spPr>
          <a:xfrm>
            <a:off x="6138853" y="2404932"/>
            <a:ext cx="2476481" cy="579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Managing the Presidential Scholarship Program distribution to underprivileged students.</a:t>
            </a:r>
            <a:endParaRPr lang="en-US" sz="674" dirty="0"/>
          </a:p>
        </p:txBody>
      </p:sp>
      <p:sp>
        <p:nvSpPr>
          <p:cNvPr id="23" name="Shape 17"/>
          <p:cNvSpPr/>
          <p:nvPr/>
        </p:nvSpPr>
        <p:spPr>
          <a:xfrm>
            <a:off x="6138853" y="3055376"/>
            <a:ext cx="1182291" cy="160734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4" name="Text 18"/>
          <p:cNvSpPr/>
          <p:nvPr/>
        </p:nvSpPr>
        <p:spPr>
          <a:xfrm>
            <a:off x="6138853" y="3055376"/>
            <a:ext cx="1182291" cy="16073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68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116,000 AWARDED IN 2024</a:t>
            </a:r>
            <a:endParaRPr lang="en-US" sz="568" dirty="0"/>
          </a:p>
        </p:txBody>
      </p:sp>
      <p:sp>
        <p:nvSpPr>
          <p:cNvPr id="25" name="Shape 19"/>
          <p:cNvSpPr/>
          <p:nvPr/>
        </p:nvSpPr>
        <p:spPr>
          <a:xfrm>
            <a:off x="428625" y="3444711"/>
            <a:ext cx="2676506" cy="1698789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28638" y="3544723"/>
            <a:ext cx="357188" cy="357188"/>
          </a:xfrm>
          <a:prstGeom prst="rect">
            <a:avLst/>
          </a:prstGeom>
          <a:solidFill>
            <a:srgbClr val="EDF2F7"/>
          </a:solidFill>
          <a:ln w="9144">
            <a:solidFill>
              <a:srgbClr val="CBD5E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791" y="3637592"/>
            <a:ext cx="192881" cy="17145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8638" y="3987636"/>
            <a:ext cx="247648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HEALTH &amp; NUTRITION</a:t>
            </a:r>
            <a:endParaRPr lang="en-US" sz="987" dirty="0"/>
          </a:p>
        </p:txBody>
      </p:sp>
      <p:sp>
        <p:nvSpPr>
          <p:cNvPr id="29" name="Text 22"/>
          <p:cNvSpPr/>
          <p:nvPr/>
        </p:nvSpPr>
        <p:spPr>
          <a:xfrm>
            <a:off x="528638" y="4232309"/>
            <a:ext cx="2476481" cy="811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Implementing school feeding initiatives, nutritional programs, and drug prevention campaigns within the zone.</a:t>
            </a:r>
            <a:endParaRPr lang="en-US" sz="674" dirty="0"/>
          </a:p>
        </p:txBody>
      </p:sp>
      <p:sp>
        <p:nvSpPr>
          <p:cNvPr id="30" name="Shape 23"/>
          <p:cNvSpPr/>
          <p:nvPr/>
        </p:nvSpPr>
        <p:spPr>
          <a:xfrm>
            <a:off x="3233719" y="3444711"/>
            <a:ext cx="2676534" cy="1698789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333731" y="3544723"/>
            <a:ext cx="357188" cy="357188"/>
          </a:xfrm>
          <a:prstGeom prst="rect">
            <a:avLst/>
          </a:prstGeom>
          <a:solidFill>
            <a:srgbClr val="EDF2F7"/>
          </a:solidFill>
          <a:ln w="9144">
            <a:solidFill>
              <a:srgbClr val="CBD5E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5885" y="3637592"/>
            <a:ext cx="192881" cy="17145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333731" y="3987636"/>
            <a:ext cx="247650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TEXTBOOKS &amp; UNIFORMS</a:t>
            </a:r>
            <a:endParaRPr lang="en-US" sz="987" dirty="0"/>
          </a:p>
        </p:txBody>
      </p:sp>
      <p:sp>
        <p:nvSpPr>
          <p:cNvPr id="34" name="Text 26"/>
          <p:cNvSpPr/>
          <p:nvPr/>
        </p:nvSpPr>
        <p:spPr>
          <a:xfrm>
            <a:off x="3333731" y="4232309"/>
            <a:ext cx="2476509" cy="811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Logistics and distribution of free textbooks, school uniform materials, and other essential learning resources.</a:t>
            </a:r>
            <a:endParaRPr lang="en-US" sz="674" dirty="0"/>
          </a:p>
        </p:txBody>
      </p:sp>
      <p:sp>
        <p:nvSpPr>
          <p:cNvPr id="35" name="Shape 27"/>
          <p:cNvSpPr/>
          <p:nvPr/>
        </p:nvSpPr>
        <p:spPr>
          <a:xfrm>
            <a:off x="6038841" y="3444711"/>
            <a:ext cx="2676506" cy="1698789"/>
          </a:xfrm>
          <a:prstGeom prst="rect">
            <a:avLst/>
          </a:prstGeom>
          <a:solidFill>
            <a:srgbClr val="FFFFFF"/>
          </a:solidFill>
          <a:ln w="18288">
            <a:solidFill>
              <a:srgbClr val="E2E8F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6138853" y="3544723"/>
            <a:ext cx="357188" cy="357188"/>
          </a:xfrm>
          <a:prstGeom prst="rect">
            <a:avLst/>
          </a:prstGeom>
          <a:solidFill>
            <a:srgbClr val="EDF2F7"/>
          </a:solidFill>
          <a:ln w="9144">
            <a:solidFill>
              <a:srgbClr val="CBD5E0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2438" y="3637592"/>
            <a:ext cx="150019" cy="17145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138853" y="3987636"/>
            <a:ext cx="2476481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CO-CURRICULAR ACTIVITIES</a:t>
            </a:r>
            <a:endParaRPr lang="en-US" sz="987" dirty="0"/>
          </a:p>
        </p:txBody>
      </p:sp>
      <p:sp>
        <p:nvSpPr>
          <p:cNvPr id="39" name="Text 30"/>
          <p:cNvSpPr/>
          <p:nvPr/>
        </p:nvSpPr>
        <p:spPr>
          <a:xfrm>
            <a:off x="6138853" y="4232309"/>
            <a:ext cx="2476481" cy="811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Coordinating zonal sports meets, academic competitions, field trips, and student leadership programs.</a:t>
            </a:r>
            <a:endParaRPr lang="en-US" sz="67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492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9670"/>
            <a:ext cx="162877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FINANCIAL ADMINISTRATION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8579644" y="219670"/>
            <a:ext cx="1357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09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857250"/>
            <a:ext cx="71437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0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FINANCE DIVISION MANAGES BUDGETS, SALARIES, AND RESOURCE ALLOCATION</a:t>
            </a:r>
            <a:endParaRPr lang="en-US" sz="1808" dirty="0"/>
          </a:p>
        </p:txBody>
      </p:sp>
      <p:sp>
        <p:nvSpPr>
          <p:cNvPr id="8" name="Text 5"/>
          <p:cNvSpPr/>
          <p:nvPr/>
        </p:nvSpPr>
        <p:spPr>
          <a:xfrm>
            <a:off x="428625" y="1760209"/>
            <a:ext cx="40005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CORE OPERATIONS</a:t>
            </a:r>
            <a:endParaRPr lang="en-US" sz="621" dirty="0"/>
          </a:p>
        </p:txBody>
      </p:sp>
      <p:sp>
        <p:nvSpPr>
          <p:cNvPr id="9" name="Shape 6"/>
          <p:cNvSpPr/>
          <p:nvPr/>
        </p:nvSpPr>
        <p:spPr>
          <a:xfrm>
            <a:off x="428625" y="2087035"/>
            <a:ext cx="4000500" cy="7311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28625" y="2087035"/>
            <a:ext cx="4000500" cy="7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1" name="Shape 8"/>
          <p:cNvSpPr/>
          <p:nvPr/>
        </p:nvSpPr>
        <p:spPr>
          <a:xfrm>
            <a:off x="4421981" y="2087035"/>
            <a:ext cx="7144" cy="731118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2" name="Shape 9"/>
          <p:cNvSpPr/>
          <p:nvPr/>
        </p:nvSpPr>
        <p:spPr>
          <a:xfrm>
            <a:off x="428625" y="2811010"/>
            <a:ext cx="4000500" cy="7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2087035"/>
            <a:ext cx="28575" cy="731118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51342"/>
            <a:ext cx="107156" cy="1428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21531" y="2229910"/>
            <a:ext cx="34647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Budget Management</a:t>
            </a:r>
            <a:endParaRPr lang="en-US" sz="885" dirty="0"/>
          </a:p>
        </p:txBody>
      </p:sp>
      <p:sp>
        <p:nvSpPr>
          <p:cNvPr id="16" name="Text 12"/>
          <p:cNvSpPr/>
          <p:nvPr/>
        </p:nvSpPr>
        <p:spPr>
          <a:xfrm>
            <a:off x="821531" y="2421006"/>
            <a:ext cx="3464719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Preparation and management of the annual zonal education budget, ensuring alignment with provincial and national allocations.</a:t>
            </a:r>
            <a:endParaRPr lang="en-US" sz="621" dirty="0"/>
          </a:p>
        </p:txBody>
      </p:sp>
      <p:sp>
        <p:nvSpPr>
          <p:cNvPr id="17" name="Shape 13"/>
          <p:cNvSpPr/>
          <p:nvPr/>
        </p:nvSpPr>
        <p:spPr>
          <a:xfrm>
            <a:off x="428625" y="2946741"/>
            <a:ext cx="4000500" cy="7311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428625" y="2946741"/>
            <a:ext cx="4000500" cy="7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19" name="Shape 15"/>
          <p:cNvSpPr/>
          <p:nvPr/>
        </p:nvSpPr>
        <p:spPr>
          <a:xfrm>
            <a:off x="4421981" y="2946741"/>
            <a:ext cx="7144" cy="731118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0" name="Shape 16"/>
          <p:cNvSpPr/>
          <p:nvPr/>
        </p:nvSpPr>
        <p:spPr>
          <a:xfrm>
            <a:off x="428625" y="3670715"/>
            <a:ext cx="4000500" cy="7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1" name="Shape 17"/>
          <p:cNvSpPr/>
          <p:nvPr/>
        </p:nvSpPr>
        <p:spPr>
          <a:xfrm>
            <a:off x="428625" y="2946741"/>
            <a:ext cx="28575" cy="731118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11047"/>
            <a:ext cx="160734" cy="14287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75109" y="3089616"/>
            <a:ext cx="34111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Salary Processing</a:t>
            </a:r>
            <a:endParaRPr lang="en-US" sz="885" dirty="0"/>
          </a:p>
        </p:txBody>
      </p:sp>
      <p:sp>
        <p:nvSpPr>
          <p:cNvPr id="24" name="Text 19"/>
          <p:cNvSpPr/>
          <p:nvPr/>
        </p:nvSpPr>
        <p:spPr>
          <a:xfrm>
            <a:off x="875109" y="3280711"/>
            <a:ext cx="3411141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Timely processing and disbursement of salaries for all teaching and non-teaching staff within the zone.</a:t>
            </a:r>
            <a:endParaRPr lang="en-US" sz="621" dirty="0"/>
          </a:p>
        </p:txBody>
      </p:sp>
      <p:sp>
        <p:nvSpPr>
          <p:cNvPr id="25" name="Shape 20"/>
          <p:cNvSpPr/>
          <p:nvPr/>
        </p:nvSpPr>
        <p:spPr>
          <a:xfrm>
            <a:off x="428625" y="3806447"/>
            <a:ext cx="4000500" cy="7311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1"/>
          <p:cNvSpPr/>
          <p:nvPr/>
        </p:nvSpPr>
        <p:spPr>
          <a:xfrm>
            <a:off x="428625" y="3806447"/>
            <a:ext cx="4000500" cy="7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7" name="Shape 22"/>
          <p:cNvSpPr/>
          <p:nvPr/>
        </p:nvSpPr>
        <p:spPr>
          <a:xfrm>
            <a:off x="4421981" y="3806447"/>
            <a:ext cx="7144" cy="731118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8" name="Shape 23"/>
          <p:cNvSpPr/>
          <p:nvPr/>
        </p:nvSpPr>
        <p:spPr>
          <a:xfrm>
            <a:off x="428625" y="4530421"/>
            <a:ext cx="4000500" cy="7144"/>
          </a:xfrm>
          <a:prstGeom prst="rect">
            <a:avLst/>
          </a:prstGeom>
          <a:solidFill>
            <a:srgbClr val="CBD5E0"/>
          </a:solidFill>
          <a:ln/>
        </p:spPr>
      </p:sp>
      <p:sp>
        <p:nvSpPr>
          <p:cNvPr id="29" name="Shape 24"/>
          <p:cNvSpPr/>
          <p:nvPr/>
        </p:nvSpPr>
        <p:spPr>
          <a:xfrm>
            <a:off x="428625" y="3806447"/>
            <a:ext cx="28575" cy="731118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70753"/>
            <a:ext cx="107156" cy="142875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821531" y="3949322"/>
            <a:ext cx="34647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Procurement &amp; Audit</a:t>
            </a:r>
            <a:endParaRPr lang="en-US" sz="885" dirty="0"/>
          </a:p>
        </p:txBody>
      </p:sp>
      <p:sp>
        <p:nvSpPr>
          <p:cNvPr id="32" name="Text 26"/>
          <p:cNvSpPr/>
          <p:nvPr/>
        </p:nvSpPr>
        <p:spPr>
          <a:xfrm>
            <a:off x="821531" y="4140417"/>
            <a:ext cx="3464719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Handling procurement of goods and services, managing tenders, and ensuring compliance with financial regulations and audits.</a:t>
            </a:r>
            <a:endParaRPr lang="en-US" sz="621" dirty="0"/>
          </a:p>
        </p:txBody>
      </p:sp>
      <p:sp>
        <p:nvSpPr>
          <p:cNvPr id="33" name="Text 27"/>
          <p:cNvSpPr/>
          <p:nvPr/>
        </p:nvSpPr>
        <p:spPr>
          <a:xfrm>
            <a:off x="4714875" y="1760209"/>
            <a:ext cx="4000500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STRATEGIC ALLOCATION</a:t>
            </a:r>
            <a:endParaRPr lang="en-US" sz="621" dirty="0"/>
          </a:p>
        </p:txBody>
      </p:sp>
      <p:sp>
        <p:nvSpPr>
          <p:cNvPr id="34" name="Shape 28"/>
          <p:cNvSpPr/>
          <p:nvPr/>
        </p:nvSpPr>
        <p:spPr>
          <a:xfrm>
            <a:off x="4714875" y="2158473"/>
            <a:ext cx="4000500" cy="1001911"/>
          </a:xfrm>
          <a:prstGeom prst="rect">
            <a:avLst/>
          </a:prstGeom>
          <a:solidFill>
            <a:srgbClr val="EBF8FF"/>
          </a:solidFill>
          <a:ln w="9144">
            <a:solidFill>
              <a:srgbClr val="3182CE"/>
            </a:solidFill>
            <a:prstDash val="dash"/>
          </a:ln>
        </p:spPr>
      </p:sp>
      <p:sp>
        <p:nvSpPr>
          <p:cNvPr id="35" name="Shape 29"/>
          <p:cNvSpPr/>
          <p:nvPr/>
        </p:nvSpPr>
        <p:spPr>
          <a:xfrm>
            <a:off x="7772400" y="2087035"/>
            <a:ext cx="800100" cy="123230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36" name="Text 30"/>
          <p:cNvSpPr/>
          <p:nvPr/>
        </p:nvSpPr>
        <p:spPr>
          <a:xfrm>
            <a:off x="7772400" y="2087035"/>
            <a:ext cx="800100" cy="123230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FLEXIBLE FUNDING</a:t>
            </a:r>
            <a:endParaRPr lang="en-US" sz="516" dirty="0"/>
          </a:p>
        </p:txBody>
      </p:sp>
      <p:sp>
        <p:nvSpPr>
          <p:cNvPr id="37" name="Text 31"/>
          <p:cNvSpPr/>
          <p:nvPr/>
        </p:nvSpPr>
        <p:spPr>
          <a:xfrm>
            <a:off x="4893469" y="2337067"/>
            <a:ext cx="3643313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B6CB0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Education Quality Inputs (EQI)</a:t>
            </a:r>
            <a:endParaRPr lang="en-US" sz="987" dirty="0"/>
          </a:p>
        </p:txBody>
      </p:sp>
      <p:sp>
        <p:nvSpPr>
          <p:cNvPr id="38" name="Text 32"/>
          <p:cNvSpPr/>
          <p:nvPr/>
        </p:nvSpPr>
        <p:spPr>
          <a:xfrm>
            <a:off x="4893469" y="2581740"/>
            <a:ext cx="36433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2C528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Zonal officials distribute EQI funds to schools with discretionary power, allowing flexibility to meet specific local needs outside standard budget lines.</a:t>
            </a:r>
            <a:endParaRPr lang="en-US" sz="621" dirty="0"/>
          </a:p>
        </p:txBody>
      </p:sp>
      <p:sp>
        <p:nvSpPr>
          <p:cNvPr id="39" name="Shape 33"/>
          <p:cNvSpPr/>
          <p:nvPr/>
        </p:nvSpPr>
        <p:spPr>
          <a:xfrm>
            <a:off x="4714875" y="3360409"/>
            <a:ext cx="4000500" cy="14859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0" name="Text 34"/>
          <p:cNvSpPr/>
          <p:nvPr/>
        </p:nvSpPr>
        <p:spPr>
          <a:xfrm>
            <a:off x="4929188" y="3574721"/>
            <a:ext cx="35718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63B3ED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General Education Modernization Project</a:t>
            </a:r>
            <a:endParaRPr lang="en-US" sz="1090" dirty="0"/>
          </a:p>
        </p:txBody>
      </p:sp>
      <p:sp>
        <p:nvSpPr>
          <p:cNvPr id="41" name="Text 35"/>
          <p:cNvSpPr/>
          <p:nvPr/>
        </p:nvSpPr>
        <p:spPr>
          <a:xfrm>
            <a:off x="4929188" y="3871187"/>
            <a:ext cx="3571875" cy="339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$50 MILLION</a:t>
            </a:r>
            <a:endParaRPr lang="en-US" sz="1808" dirty="0"/>
          </a:p>
        </p:txBody>
      </p:sp>
      <p:sp>
        <p:nvSpPr>
          <p:cNvPr id="42" name="Text 36"/>
          <p:cNvSpPr/>
          <p:nvPr/>
        </p:nvSpPr>
        <p:spPr>
          <a:xfrm>
            <a:off x="4929188" y="4246234"/>
            <a:ext cx="35718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A0AE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Additional financing approved in June 2025 to upgrade school facilities and improve teaching quality, specifically targeting underserved schools in rural and estate communities.</a:t>
            </a:r>
            <a:endParaRPr lang="en-US" sz="621" dirty="0"/>
          </a:p>
        </p:txBody>
      </p:sp>
      <p:sp>
        <p:nvSpPr>
          <p:cNvPr id="43" name="Text 37"/>
          <p:cNvSpPr/>
          <p:nvPr/>
        </p:nvSpPr>
        <p:spPr>
          <a:xfrm>
            <a:off x="7586663" y="4608779"/>
            <a:ext cx="985838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SUPPORTED BY WORLD BANK</a:t>
            </a:r>
            <a:endParaRPr lang="en-US" sz="51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9670"/>
            <a:ext cx="115371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SYSTEM CHALLENGES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8579644" y="219670"/>
            <a:ext cx="1357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0" y="571500"/>
            <a:ext cx="2857500" cy="4572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Shape 5"/>
          <p:cNvSpPr/>
          <p:nvPr/>
        </p:nvSpPr>
        <p:spPr>
          <a:xfrm>
            <a:off x="2843213" y="571500"/>
            <a:ext cx="14288" cy="4572000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571500"/>
            <a:ext cx="2843213" cy="4572000"/>
          </a:xfrm>
          <a:prstGeom prst="rect">
            <a:avLst/>
          </a:prstGeom>
          <a:solidFill>
            <a:srgbClr val="CBD5E0">
              <a:alpha val="1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85750" y="1000125"/>
            <a:ext cx="2286000" cy="1650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21" b="1" dirty="0">
                <a:solidFill>
                  <a:srgbClr val="1A20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KEY CHALLENGES FACING ZONAL EDUCATION OFFICES</a:t>
            </a:r>
            <a:endParaRPr lang="en-US" sz="2121" dirty="0"/>
          </a:p>
        </p:txBody>
      </p:sp>
      <p:sp>
        <p:nvSpPr>
          <p:cNvPr id="11" name="Shape 8"/>
          <p:cNvSpPr/>
          <p:nvPr/>
        </p:nvSpPr>
        <p:spPr>
          <a:xfrm>
            <a:off x="285750" y="2864616"/>
            <a:ext cx="2286000" cy="1028588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2" name="Shape 9"/>
          <p:cNvSpPr/>
          <p:nvPr/>
        </p:nvSpPr>
        <p:spPr>
          <a:xfrm>
            <a:off x="285750" y="2864616"/>
            <a:ext cx="28575" cy="1028588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3007491"/>
            <a:ext cx="2000250" cy="742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Despite their critical role, ZEOs face significant structural and operational hurdles that impede efficiency and equitable service delivery.</a:t>
            </a:r>
            <a:endParaRPr lang="en-US" sz="674" dirty="0"/>
          </a:p>
        </p:txBody>
      </p:sp>
      <p:sp>
        <p:nvSpPr>
          <p:cNvPr id="14" name="Shape 11"/>
          <p:cNvSpPr/>
          <p:nvPr/>
        </p:nvSpPr>
        <p:spPr>
          <a:xfrm>
            <a:off x="3286125" y="940408"/>
            <a:ext cx="5429250" cy="652537"/>
          </a:xfrm>
          <a:prstGeom prst="rect">
            <a:avLst/>
          </a:prstGeom>
          <a:solidFill>
            <a:srgbClr val="FFFFFF"/>
          </a:solidFill>
          <a:ln w="9144">
            <a:solidFill>
              <a:srgbClr val="A0AEC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86125" y="947551"/>
            <a:ext cx="28575" cy="638249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16" name="Shape 13"/>
          <p:cNvSpPr/>
          <p:nvPr/>
        </p:nvSpPr>
        <p:spPr>
          <a:xfrm>
            <a:off x="3429000" y="1088082"/>
            <a:ext cx="357188" cy="357188"/>
          </a:xfrm>
          <a:prstGeom prst="rect">
            <a:avLst/>
          </a:prstGeom>
          <a:solidFill>
            <a:srgbClr val="EDF2F7"/>
          </a:solidFill>
          <a:ln w="9144">
            <a:solidFill>
              <a:srgbClr val="CBD5E0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156" y="1195239"/>
            <a:ext cx="142875" cy="14287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929063" y="1054708"/>
            <a:ext cx="39862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ADMINISTRATIVE BURDEN</a:t>
            </a:r>
            <a:endParaRPr lang="en-US" sz="885" dirty="0"/>
          </a:p>
        </p:txBody>
      </p:sp>
      <p:sp>
        <p:nvSpPr>
          <p:cNvPr id="19" name="Text 15"/>
          <p:cNvSpPr/>
          <p:nvPr/>
        </p:nvSpPr>
        <p:spPr>
          <a:xfrm>
            <a:off x="3929063" y="1238659"/>
            <a:ext cx="39862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Large, remote zones struggle to provide equitable services. Example: Thenmarachchi Zone faces challenges due to vast geography.</a:t>
            </a:r>
            <a:endParaRPr lang="en-US" sz="621" dirty="0"/>
          </a:p>
        </p:txBody>
      </p:sp>
      <p:sp>
        <p:nvSpPr>
          <p:cNvPr id="20" name="Shape 16"/>
          <p:cNvSpPr/>
          <p:nvPr/>
        </p:nvSpPr>
        <p:spPr>
          <a:xfrm>
            <a:off x="8058150" y="1183630"/>
            <a:ext cx="514350" cy="166092"/>
          </a:xfrm>
          <a:prstGeom prst="rect">
            <a:avLst/>
          </a:prstGeom>
          <a:solidFill>
            <a:srgbClr val="F7FAFC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058150" y="1183630"/>
            <a:ext cx="514350" cy="16609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LOGISTICS</a:t>
            </a:r>
            <a:endParaRPr lang="en-US" sz="516" dirty="0"/>
          </a:p>
        </p:txBody>
      </p:sp>
      <p:sp>
        <p:nvSpPr>
          <p:cNvPr id="22" name="Shape 18"/>
          <p:cNvSpPr/>
          <p:nvPr/>
        </p:nvSpPr>
        <p:spPr>
          <a:xfrm>
            <a:off x="3286125" y="1728676"/>
            <a:ext cx="5429250" cy="652537"/>
          </a:xfrm>
          <a:prstGeom prst="rect">
            <a:avLst/>
          </a:prstGeom>
          <a:solidFill>
            <a:srgbClr val="FFFFFF"/>
          </a:solidFill>
          <a:ln w="9144">
            <a:solidFill>
              <a:srgbClr val="A0AEC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286125" y="1735820"/>
            <a:ext cx="28575" cy="638249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24" name="Shape 20"/>
          <p:cNvSpPr/>
          <p:nvPr/>
        </p:nvSpPr>
        <p:spPr>
          <a:xfrm>
            <a:off x="3429000" y="1876351"/>
            <a:ext cx="357188" cy="357188"/>
          </a:xfrm>
          <a:prstGeom prst="rect">
            <a:avLst/>
          </a:prstGeom>
          <a:solidFill>
            <a:srgbClr val="EDF2F7"/>
          </a:solidFill>
          <a:ln w="9144">
            <a:solidFill>
              <a:srgbClr val="CBD5E0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227" y="1983507"/>
            <a:ext cx="160734" cy="14287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929063" y="1842976"/>
            <a:ext cx="40290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CAPACITY CONSTRAINTS</a:t>
            </a:r>
            <a:endParaRPr lang="en-US" sz="885" dirty="0"/>
          </a:p>
        </p:txBody>
      </p:sp>
      <p:sp>
        <p:nvSpPr>
          <p:cNvPr id="27" name="Text 22"/>
          <p:cNvSpPr/>
          <p:nvPr/>
        </p:nvSpPr>
        <p:spPr>
          <a:xfrm>
            <a:off x="3929063" y="2026927"/>
            <a:ext cx="40290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Staff often lack formal training in educational planning. Shortages in human and physical resources are common.</a:t>
            </a:r>
            <a:endParaRPr lang="en-US" sz="621" dirty="0"/>
          </a:p>
        </p:txBody>
      </p:sp>
      <p:sp>
        <p:nvSpPr>
          <p:cNvPr id="28" name="Shape 23"/>
          <p:cNvSpPr/>
          <p:nvPr/>
        </p:nvSpPr>
        <p:spPr>
          <a:xfrm>
            <a:off x="8101013" y="1971898"/>
            <a:ext cx="471488" cy="166092"/>
          </a:xfrm>
          <a:prstGeom prst="rect">
            <a:avLst/>
          </a:prstGeom>
          <a:solidFill>
            <a:srgbClr val="F7FAFC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101013" y="1971898"/>
            <a:ext cx="471488" cy="16609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RESOURCE</a:t>
            </a:r>
            <a:endParaRPr lang="en-US" sz="516" dirty="0"/>
          </a:p>
        </p:txBody>
      </p:sp>
      <p:sp>
        <p:nvSpPr>
          <p:cNvPr id="30" name="Shape 25"/>
          <p:cNvSpPr/>
          <p:nvPr/>
        </p:nvSpPr>
        <p:spPr>
          <a:xfrm>
            <a:off x="3286125" y="2516944"/>
            <a:ext cx="5429250" cy="652537"/>
          </a:xfrm>
          <a:prstGeom prst="rect">
            <a:avLst/>
          </a:prstGeom>
          <a:solidFill>
            <a:srgbClr val="FFFFFF"/>
          </a:solidFill>
          <a:ln w="9144">
            <a:solidFill>
              <a:srgbClr val="A0AEC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286125" y="2524088"/>
            <a:ext cx="28575" cy="638249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2" name="Shape 27"/>
          <p:cNvSpPr/>
          <p:nvPr/>
        </p:nvSpPr>
        <p:spPr>
          <a:xfrm>
            <a:off x="3429000" y="2664619"/>
            <a:ext cx="357188" cy="357188"/>
          </a:xfrm>
          <a:prstGeom prst="rect">
            <a:avLst/>
          </a:prstGeom>
          <a:solidFill>
            <a:srgbClr val="EDF2F7"/>
          </a:solidFill>
          <a:ln w="9144">
            <a:solidFill>
              <a:srgbClr val="CBD5E0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156" y="2771775"/>
            <a:ext cx="142875" cy="142875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929063" y="2631244"/>
            <a:ext cx="39433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POLITICIZATION</a:t>
            </a:r>
            <a:endParaRPr lang="en-US" sz="885" dirty="0"/>
          </a:p>
        </p:txBody>
      </p:sp>
      <p:sp>
        <p:nvSpPr>
          <p:cNvPr id="35" name="Text 29"/>
          <p:cNvSpPr/>
          <p:nvPr/>
        </p:nvSpPr>
        <p:spPr>
          <a:xfrm>
            <a:off x="3929063" y="2815196"/>
            <a:ext cx="39433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"Extreme politicization" identified by NEC as a major impediment to system efficiency, affecting appointments and allocation.</a:t>
            </a:r>
            <a:endParaRPr lang="en-US" sz="621" dirty="0"/>
          </a:p>
        </p:txBody>
      </p:sp>
      <p:sp>
        <p:nvSpPr>
          <p:cNvPr id="36" name="Shape 30"/>
          <p:cNvSpPr/>
          <p:nvPr/>
        </p:nvSpPr>
        <p:spPr>
          <a:xfrm>
            <a:off x="8015288" y="2760166"/>
            <a:ext cx="557213" cy="166092"/>
          </a:xfrm>
          <a:prstGeom prst="rect">
            <a:avLst/>
          </a:prstGeom>
          <a:solidFill>
            <a:srgbClr val="F7FAFC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8015288" y="2760166"/>
            <a:ext cx="557213" cy="16609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GOVERNANCE</a:t>
            </a:r>
            <a:endParaRPr lang="en-US" sz="516" dirty="0"/>
          </a:p>
        </p:txBody>
      </p:sp>
      <p:sp>
        <p:nvSpPr>
          <p:cNvPr id="38" name="Shape 32"/>
          <p:cNvSpPr/>
          <p:nvPr/>
        </p:nvSpPr>
        <p:spPr>
          <a:xfrm>
            <a:off x="3286125" y="3305212"/>
            <a:ext cx="5429250" cy="652537"/>
          </a:xfrm>
          <a:prstGeom prst="rect">
            <a:avLst/>
          </a:prstGeom>
          <a:solidFill>
            <a:srgbClr val="FFFFFF"/>
          </a:solidFill>
          <a:ln w="9144">
            <a:solidFill>
              <a:srgbClr val="A0AEC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286125" y="3312356"/>
            <a:ext cx="28575" cy="638249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0" name="Shape 34"/>
          <p:cNvSpPr/>
          <p:nvPr/>
        </p:nvSpPr>
        <p:spPr>
          <a:xfrm>
            <a:off x="3429000" y="3452887"/>
            <a:ext cx="357188" cy="357188"/>
          </a:xfrm>
          <a:prstGeom prst="rect">
            <a:avLst/>
          </a:prstGeom>
          <a:solidFill>
            <a:srgbClr val="EDF2F7"/>
          </a:solidFill>
          <a:ln w="9144">
            <a:solidFill>
              <a:srgbClr val="CBD5E0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6156" y="3560043"/>
            <a:ext cx="142875" cy="142875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3929063" y="3419512"/>
            <a:ext cx="39433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COORDINATION GAPS</a:t>
            </a:r>
            <a:endParaRPr lang="en-US" sz="885" dirty="0"/>
          </a:p>
        </p:txBody>
      </p:sp>
      <p:sp>
        <p:nvSpPr>
          <p:cNvPr id="43" name="Text 36"/>
          <p:cNvSpPr/>
          <p:nvPr/>
        </p:nvSpPr>
        <p:spPr>
          <a:xfrm>
            <a:off x="3929063" y="3603464"/>
            <a:ext cx="394335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Unclear delineation of powers between Central, Provincial, Zonal, and Divisional levels leads to duplication of efforts.</a:t>
            </a:r>
            <a:endParaRPr lang="en-US" sz="621" dirty="0"/>
          </a:p>
        </p:txBody>
      </p:sp>
      <p:sp>
        <p:nvSpPr>
          <p:cNvPr id="44" name="Shape 37"/>
          <p:cNvSpPr/>
          <p:nvPr/>
        </p:nvSpPr>
        <p:spPr>
          <a:xfrm>
            <a:off x="8015288" y="3548435"/>
            <a:ext cx="557213" cy="166092"/>
          </a:xfrm>
          <a:prstGeom prst="rect">
            <a:avLst/>
          </a:prstGeom>
          <a:solidFill>
            <a:srgbClr val="F7FAFC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8015288" y="3548435"/>
            <a:ext cx="557213" cy="16609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STRUCTURAL</a:t>
            </a:r>
            <a:endParaRPr lang="en-US" sz="516" dirty="0"/>
          </a:p>
        </p:txBody>
      </p:sp>
      <p:sp>
        <p:nvSpPr>
          <p:cNvPr id="46" name="Shape 39"/>
          <p:cNvSpPr/>
          <p:nvPr/>
        </p:nvSpPr>
        <p:spPr>
          <a:xfrm>
            <a:off x="3286125" y="4093480"/>
            <a:ext cx="5429250" cy="652537"/>
          </a:xfrm>
          <a:prstGeom prst="rect">
            <a:avLst/>
          </a:prstGeom>
          <a:solidFill>
            <a:srgbClr val="FFFFFF"/>
          </a:solidFill>
          <a:ln w="9144">
            <a:solidFill>
              <a:srgbClr val="A0AEC0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3286125" y="4100624"/>
            <a:ext cx="28575" cy="638249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8" name="Shape 41"/>
          <p:cNvSpPr/>
          <p:nvPr/>
        </p:nvSpPr>
        <p:spPr>
          <a:xfrm>
            <a:off x="3429000" y="4241155"/>
            <a:ext cx="357188" cy="357188"/>
          </a:xfrm>
          <a:prstGeom prst="rect">
            <a:avLst/>
          </a:prstGeom>
          <a:solidFill>
            <a:srgbClr val="EDF2F7"/>
          </a:solidFill>
          <a:ln w="9144">
            <a:solidFill>
              <a:srgbClr val="CBD5E0"/>
            </a:solidFill>
            <a:prstDash val="solid"/>
          </a:ln>
        </p:spPr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6156" y="4348311"/>
            <a:ext cx="142875" cy="142875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3929063" y="4207780"/>
            <a:ext cx="39862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INCOMPLETE AUTOMATION</a:t>
            </a:r>
            <a:endParaRPr lang="en-US" sz="885" dirty="0"/>
          </a:p>
        </p:txBody>
      </p:sp>
      <p:sp>
        <p:nvSpPr>
          <p:cNvPr id="51" name="Text 43"/>
          <p:cNvSpPr/>
          <p:nvPr/>
        </p:nvSpPr>
        <p:spPr>
          <a:xfrm>
            <a:off x="3929063" y="4391732"/>
            <a:ext cx="398621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Education Management Information System (EMIS) is not fully automated, limiting data-driven decision-making capabilities.</a:t>
            </a:r>
            <a:endParaRPr lang="en-US" sz="621" dirty="0"/>
          </a:p>
        </p:txBody>
      </p:sp>
      <p:sp>
        <p:nvSpPr>
          <p:cNvPr id="52" name="Shape 44"/>
          <p:cNvSpPr/>
          <p:nvPr/>
        </p:nvSpPr>
        <p:spPr>
          <a:xfrm>
            <a:off x="8058150" y="4336703"/>
            <a:ext cx="514350" cy="166092"/>
          </a:xfrm>
          <a:prstGeom prst="rect">
            <a:avLst/>
          </a:prstGeom>
          <a:solidFill>
            <a:srgbClr val="F7FAFC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8058150" y="4336703"/>
            <a:ext cx="514350" cy="166092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r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TECHNICAL</a:t>
            </a:r>
            <a:endParaRPr lang="en-US" sz="51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9670"/>
            <a:ext cx="156090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REFORMS &amp; MODERNIZATION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8579644" y="219670"/>
            <a:ext cx="1357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11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857250"/>
            <a:ext cx="7143750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0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NATIONWIDE REFORMS AIM TO STRENGTHEN ZEO CAPACITY AND MODERNIZE THE SYSTEM</a:t>
            </a:r>
            <a:endParaRPr lang="en-US" sz="1808" dirty="0"/>
          </a:p>
        </p:txBody>
      </p:sp>
      <p:sp>
        <p:nvSpPr>
          <p:cNvPr id="8" name="Shape 5"/>
          <p:cNvSpPr/>
          <p:nvPr/>
        </p:nvSpPr>
        <p:spPr>
          <a:xfrm>
            <a:off x="428625" y="1581615"/>
            <a:ext cx="2666991" cy="113870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8625" y="1581615"/>
            <a:ext cx="2652675" cy="2857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1710203"/>
            <a:ext cx="171450" cy="1714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27688" y="1710203"/>
            <a:ext cx="439341" cy="15180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2" name="Text 8"/>
          <p:cNvSpPr/>
          <p:nvPr/>
        </p:nvSpPr>
        <p:spPr>
          <a:xfrm>
            <a:off x="2527688" y="1710203"/>
            <a:ext cx="439341" cy="15180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ONGOING</a:t>
            </a:r>
            <a:endParaRPr lang="en-US" sz="516" dirty="0"/>
          </a:p>
        </p:txBody>
      </p:sp>
      <p:sp>
        <p:nvSpPr>
          <p:cNvPr id="13" name="Text 9"/>
          <p:cNvSpPr/>
          <p:nvPr/>
        </p:nvSpPr>
        <p:spPr>
          <a:xfrm>
            <a:off x="557213" y="1967378"/>
            <a:ext cx="2409816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A20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Capacity Building</a:t>
            </a:r>
            <a:endParaRPr lang="en-US" sz="885" dirty="0"/>
          </a:p>
        </p:txBody>
      </p:sp>
      <p:sp>
        <p:nvSpPr>
          <p:cNvPr id="14" name="Text 10"/>
          <p:cNvSpPr/>
          <p:nvPr/>
        </p:nvSpPr>
        <p:spPr>
          <a:xfrm>
            <a:off x="557213" y="2191680"/>
            <a:ext cx="240981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UNESCO-IIEP &amp; World Bank partnership trained 120 officials. GPE program trained 80 planners in educational planning and management.</a:t>
            </a:r>
            <a:endParaRPr lang="en-US" sz="621" dirty="0"/>
          </a:p>
        </p:txBody>
      </p:sp>
      <p:sp>
        <p:nvSpPr>
          <p:cNvPr id="15" name="Shape 11"/>
          <p:cNvSpPr/>
          <p:nvPr/>
        </p:nvSpPr>
        <p:spPr>
          <a:xfrm>
            <a:off x="3238491" y="1581615"/>
            <a:ext cx="2666991" cy="113870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38491" y="1581615"/>
            <a:ext cx="2652675" cy="2857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078" y="1710203"/>
            <a:ext cx="171450" cy="17145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151816" y="1710203"/>
            <a:ext cx="625078" cy="15180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4"/>
          <p:cNvSpPr/>
          <p:nvPr/>
        </p:nvSpPr>
        <p:spPr>
          <a:xfrm>
            <a:off x="5151816" y="1710203"/>
            <a:ext cx="625078" cy="15180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IMPLEMENTED</a:t>
            </a:r>
            <a:endParaRPr lang="en-US" sz="516" dirty="0"/>
          </a:p>
        </p:txBody>
      </p:sp>
      <p:sp>
        <p:nvSpPr>
          <p:cNvPr id="20" name="Text 15"/>
          <p:cNvSpPr/>
          <p:nvPr/>
        </p:nvSpPr>
        <p:spPr>
          <a:xfrm>
            <a:off x="3367078" y="1967378"/>
            <a:ext cx="2409816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A20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Standardization</a:t>
            </a:r>
            <a:endParaRPr lang="en-US" sz="885" dirty="0"/>
          </a:p>
        </p:txBody>
      </p:sp>
      <p:sp>
        <p:nvSpPr>
          <p:cNvPr id="21" name="Text 16"/>
          <p:cNvSpPr/>
          <p:nvPr/>
        </p:nvSpPr>
        <p:spPr>
          <a:xfrm>
            <a:off x="3367078" y="2191680"/>
            <a:ext cx="240981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MOE Management &amp; Quality Assurance Branch issued guidelines to standardize the structure and operations of all 99 ZEOs.</a:t>
            </a:r>
            <a:endParaRPr lang="en-US" sz="621" dirty="0"/>
          </a:p>
        </p:txBody>
      </p:sp>
      <p:sp>
        <p:nvSpPr>
          <p:cNvPr id="22" name="Shape 17"/>
          <p:cNvSpPr/>
          <p:nvPr/>
        </p:nvSpPr>
        <p:spPr>
          <a:xfrm>
            <a:off x="6048356" y="1581615"/>
            <a:ext cx="2667019" cy="1138703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48356" y="1581615"/>
            <a:ext cx="2652731" cy="28575"/>
          </a:xfrm>
          <a:prstGeom prst="rect">
            <a:avLst/>
          </a:prstGeom>
          <a:solidFill>
            <a:srgbClr val="2D374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944" y="1710203"/>
            <a:ext cx="214313" cy="17145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868841" y="1710203"/>
            <a:ext cx="717947" cy="15180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Text 20"/>
          <p:cNvSpPr/>
          <p:nvPr/>
        </p:nvSpPr>
        <p:spPr>
          <a:xfrm>
            <a:off x="7868841" y="1710203"/>
            <a:ext cx="717947" cy="15180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SHIFTING ROLE</a:t>
            </a:r>
            <a:endParaRPr lang="en-US" sz="516" dirty="0"/>
          </a:p>
        </p:txBody>
      </p:sp>
      <p:sp>
        <p:nvSpPr>
          <p:cNvPr id="27" name="Text 21"/>
          <p:cNvSpPr/>
          <p:nvPr/>
        </p:nvSpPr>
        <p:spPr>
          <a:xfrm>
            <a:off x="6176944" y="1967378"/>
            <a:ext cx="2409844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A20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School-Based Management</a:t>
            </a:r>
            <a:endParaRPr lang="en-US" sz="885" dirty="0"/>
          </a:p>
        </p:txBody>
      </p:sp>
      <p:sp>
        <p:nvSpPr>
          <p:cNvPr id="28" name="Text 22"/>
          <p:cNvSpPr/>
          <p:nvPr/>
        </p:nvSpPr>
        <p:spPr>
          <a:xfrm>
            <a:off x="6176944" y="2191680"/>
            <a:ext cx="24098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Moving ZEOs from direct control to a supportive monitoring role, empowering schools with greater autonomy via the PSI.</a:t>
            </a:r>
            <a:endParaRPr lang="en-US" sz="621" dirty="0"/>
          </a:p>
        </p:txBody>
      </p:sp>
      <p:sp>
        <p:nvSpPr>
          <p:cNvPr id="29" name="Text 23"/>
          <p:cNvSpPr/>
          <p:nvPr/>
        </p:nvSpPr>
        <p:spPr>
          <a:xfrm>
            <a:off x="428625" y="2891768"/>
            <a:ext cx="8286750" cy="741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FUTURE OUTLOOK &amp; MAJOR PROJECTS</a:t>
            </a:r>
            <a:endParaRPr lang="en-US" sz="621" dirty="0"/>
          </a:p>
        </p:txBody>
      </p:sp>
      <p:sp>
        <p:nvSpPr>
          <p:cNvPr id="30" name="Shape 24"/>
          <p:cNvSpPr/>
          <p:nvPr/>
        </p:nvSpPr>
        <p:spPr>
          <a:xfrm>
            <a:off x="428625" y="3719047"/>
            <a:ext cx="4071938" cy="1138703"/>
          </a:xfrm>
          <a:prstGeom prst="rect">
            <a:avLst/>
          </a:prstGeom>
          <a:solidFill>
            <a:srgbClr val="EDF2F7"/>
          </a:solidFill>
          <a:ln w="9144">
            <a:solidFill>
              <a:srgbClr val="A0AEC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28625" y="3719047"/>
            <a:ext cx="4057650" cy="28575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3847635"/>
            <a:ext cx="171450" cy="17145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3700463" y="3847635"/>
            <a:ext cx="671513" cy="151805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34" name="Text 27"/>
          <p:cNvSpPr/>
          <p:nvPr/>
        </p:nvSpPr>
        <p:spPr>
          <a:xfrm>
            <a:off x="3700463" y="3847635"/>
            <a:ext cx="671513" cy="15180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2B6CB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TARGET: 2026</a:t>
            </a:r>
            <a:endParaRPr lang="en-US" sz="516" dirty="0"/>
          </a:p>
        </p:txBody>
      </p:sp>
      <p:sp>
        <p:nvSpPr>
          <p:cNvPr id="35" name="Text 28"/>
          <p:cNvSpPr/>
          <p:nvPr/>
        </p:nvSpPr>
        <p:spPr>
          <a:xfrm>
            <a:off x="557213" y="4104810"/>
            <a:ext cx="381476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A20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Curriculum Reform 2026</a:t>
            </a:r>
            <a:endParaRPr lang="en-US" sz="885" dirty="0"/>
          </a:p>
        </p:txBody>
      </p:sp>
      <p:sp>
        <p:nvSpPr>
          <p:cNvPr id="36" name="Text 29"/>
          <p:cNvSpPr/>
          <p:nvPr/>
        </p:nvSpPr>
        <p:spPr>
          <a:xfrm>
            <a:off x="557213" y="4329113"/>
            <a:ext cx="38147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New national curriculum reforms are being prepared. ZEOs will be at the forefront of implementation, requiring significant coordination and teacher training efforts.</a:t>
            </a:r>
            <a:endParaRPr lang="en-US" sz="621" dirty="0"/>
          </a:p>
        </p:txBody>
      </p:sp>
      <p:sp>
        <p:nvSpPr>
          <p:cNvPr id="37" name="Shape 30"/>
          <p:cNvSpPr/>
          <p:nvPr/>
        </p:nvSpPr>
        <p:spPr>
          <a:xfrm>
            <a:off x="4643438" y="3719047"/>
            <a:ext cx="4071938" cy="1138703"/>
          </a:xfrm>
          <a:prstGeom prst="rect">
            <a:avLst/>
          </a:prstGeom>
          <a:solidFill>
            <a:srgbClr val="EDF2F7"/>
          </a:solidFill>
          <a:ln w="9144">
            <a:solidFill>
              <a:srgbClr val="A0AEC0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4643438" y="3733335"/>
            <a:ext cx="4057650" cy="28575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025" y="3861922"/>
            <a:ext cx="128588" cy="171450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8193881" y="3861922"/>
            <a:ext cx="392906" cy="151805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41" name="Text 33"/>
          <p:cNvSpPr/>
          <p:nvPr/>
        </p:nvSpPr>
        <p:spPr>
          <a:xfrm>
            <a:off x="8193881" y="3861922"/>
            <a:ext cx="392906" cy="151805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2B6CB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FUNDED</a:t>
            </a:r>
            <a:endParaRPr lang="en-US" sz="516" dirty="0"/>
          </a:p>
        </p:txBody>
      </p:sp>
      <p:sp>
        <p:nvSpPr>
          <p:cNvPr id="42" name="Text 34"/>
          <p:cNvSpPr/>
          <p:nvPr/>
        </p:nvSpPr>
        <p:spPr>
          <a:xfrm>
            <a:off x="4772025" y="4119097"/>
            <a:ext cx="3814763" cy="1671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1A20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General Education Modernization</a:t>
            </a:r>
            <a:endParaRPr lang="en-US" sz="885" dirty="0"/>
          </a:p>
        </p:txBody>
      </p:sp>
      <p:sp>
        <p:nvSpPr>
          <p:cNvPr id="43" name="Text 35"/>
          <p:cNvSpPr/>
          <p:nvPr/>
        </p:nvSpPr>
        <p:spPr>
          <a:xfrm>
            <a:off x="4772025" y="4343400"/>
            <a:ext cx="38147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World Bank-funded project ($50M additional financing) to upgrade facilities and improve teaching quality, specifically targeting underserved schools in rural and estate sectors.</a:t>
            </a:r>
            <a:endParaRPr lang="en-US" sz="62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706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9670"/>
            <a:ext cx="101798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LEGAL FRAMEWORK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8579644" y="219670"/>
            <a:ext cx="1357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12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857250"/>
            <a:ext cx="6429375" cy="617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202C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13TH AMENDMENT: CONSTITUTIONAL BASIS FOR DECENTRALIZATION</a:t>
            </a:r>
            <a:endParaRPr lang="en-US" sz="1808" dirty="0"/>
          </a:p>
        </p:txBody>
      </p:sp>
      <p:sp>
        <p:nvSpPr>
          <p:cNvPr id="8" name="Shape 5"/>
          <p:cNvSpPr/>
          <p:nvPr/>
        </p:nvSpPr>
        <p:spPr>
          <a:xfrm>
            <a:off x="1664494" y="1688771"/>
            <a:ext cx="28575" cy="3082528"/>
          </a:xfrm>
          <a:prstGeom prst="rect">
            <a:avLst/>
          </a:prstGeom>
          <a:solidFill>
            <a:srgbClr val="1A202C"/>
          </a:solidFill>
          <a:ln/>
        </p:spPr>
      </p:sp>
      <p:sp>
        <p:nvSpPr>
          <p:cNvPr id="9" name="Shape 6"/>
          <p:cNvSpPr/>
          <p:nvPr/>
        </p:nvSpPr>
        <p:spPr>
          <a:xfrm>
            <a:off x="428625" y="1688771"/>
            <a:ext cx="2500313" cy="689372"/>
          </a:xfrm>
          <a:prstGeom prst="rect">
            <a:avLst/>
          </a:prstGeom>
          <a:solidFill>
            <a:srgbClr val="2D3748"/>
          </a:solidFill>
          <a:ln w="18288">
            <a:solidFill>
              <a:srgbClr val="1A202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7219" y="1867365"/>
            <a:ext cx="21431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CONSTITUTION OF SRI LANKA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607219" y="2058460"/>
            <a:ext cx="214312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A0AE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Supreme Law</a:t>
            </a:r>
            <a:endParaRPr lang="en-US" sz="621" dirty="0"/>
          </a:p>
        </p:txBody>
      </p:sp>
      <p:sp>
        <p:nvSpPr>
          <p:cNvPr id="12" name="Shape 9"/>
          <p:cNvSpPr/>
          <p:nvPr/>
        </p:nvSpPr>
        <p:spPr>
          <a:xfrm>
            <a:off x="812602" y="2392431"/>
            <a:ext cx="1732359" cy="375047"/>
          </a:xfrm>
          <a:prstGeom prst="rect">
            <a:avLst/>
          </a:prstGeom>
          <a:solidFill>
            <a:srgbClr val="3182CE"/>
          </a:solidFill>
          <a:ln w="18288">
            <a:solidFill>
              <a:srgbClr val="1A202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2602" y="2392431"/>
            <a:ext cx="1732359" cy="375047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13TH AMENDMENT (1987)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428625" y="2781765"/>
            <a:ext cx="2500313" cy="689372"/>
          </a:xfrm>
          <a:prstGeom prst="rect">
            <a:avLst/>
          </a:prstGeom>
          <a:solidFill>
            <a:srgbClr val="FFFFFF"/>
          </a:solidFill>
          <a:ln w="18288">
            <a:solidFill>
              <a:srgbClr val="1A20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7219" y="2960359"/>
            <a:ext cx="21431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PROVINCIAL COUNCILS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607219" y="3151454"/>
            <a:ext cx="214312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A0AE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Devolved Authority</a:t>
            </a:r>
            <a:endParaRPr lang="en-US" sz="621" dirty="0"/>
          </a:p>
        </p:txBody>
      </p:sp>
      <p:sp>
        <p:nvSpPr>
          <p:cNvPr id="17" name="Shape 14"/>
          <p:cNvSpPr/>
          <p:nvPr/>
        </p:nvSpPr>
        <p:spPr>
          <a:xfrm>
            <a:off x="984052" y="3485424"/>
            <a:ext cx="1389459" cy="355402"/>
          </a:xfrm>
          <a:prstGeom prst="rect">
            <a:avLst/>
          </a:prstGeom>
          <a:solidFill>
            <a:srgbClr val="EDF2F7"/>
          </a:solidFill>
          <a:ln w="18288">
            <a:solidFill>
              <a:srgbClr val="1A202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4052" y="3485424"/>
            <a:ext cx="1389459" cy="355402"/>
          </a:xfrm>
          <a:prstGeom prst="rect">
            <a:avLst/>
          </a:prstGeom>
          <a:noFill/>
          <a:ln/>
        </p:spPr>
        <p:txBody>
          <a:bodyPr wrap="square" lIns="255143" tIns="127508" rIns="255143" bIns="127508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D374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EDUCATION STATUTES</a:t>
            </a:r>
            <a:endParaRPr lang="en-US" sz="584" dirty="0"/>
          </a:p>
        </p:txBody>
      </p:sp>
      <p:sp>
        <p:nvSpPr>
          <p:cNvPr id="19" name="Shape 16"/>
          <p:cNvSpPr/>
          <p:nvPr/>
        </p:nvSpPr>
        <p:spPr>
          <a:xfrm>
            <a:off x="428625" y="3855114"/>
            <a:ext cx="2500313" cy="689372"/>
          </a:xfrm>
          <a:prstGeom prst="rect">
            <a:avLst/>
          </a:prstGeom>
          <a:solidFill>
            <a:srgbClr val="FFFFFF"/>
          </a:solidFill>
          <a:ln w="18288">
            <a:solidFill>
              <a:srgbClr val="1A202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7219" y="4033707"/>
            <a:ext cx="21431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ZONAL ADMINISTRATION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607219" y="4224803"/>
            <a:ext cx="214312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A0AE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Implementation Layer</a:t>
            </a:r>
            <a:endParaRPr lang="en-US" sz="621" dirty="0"/>
          </a:p>
        </p:txBody>
      </p:sp>
      <p:sp>
        <p:nvSpPr>
          <p:cNvPr id="22" name="Shape 19"/>
          <p:cNvSpPr/>
          <p:nvPr/>
        </p:nvSpPr>
        <p:spPr>
          <a:xfrm>
            <a:off x="3357563" y="1688771"/>
            <a:ext cx="2571750" cy="1434108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57563" y="1688771"/>
            <a:ext cx="28575" cy="1419820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156" y="1867365"/>
            <a:ext cx="2214563" cy="17145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536156" y="2145971"/>
            <a:ext cx="2214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DEVOLUTION OF POWERS</a:t>
            </a:r>
            <a:endParaRPr lang="en-US" sz="885" dirty="0"/>
          </a:p>
        </p:txBody>
      </p:sp>
      <p:sp>
        <p:nvSpPr>
          <p:cNvPr id="26" name="Text 22"/>
          <p:cNvSpPr/>
          <p:nvPr/>
        </p:nvSpPr>
        <p:spPr>
          <a:xfrm>
            <a:off x="3536156" y="2372785"/>
            <a:ext cx="221456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Provincial Councils are empowered to develop and adopt their own education policies and statutes, provided they align with the national framework.</a:t>
            </a:r>
            <a:endParaRPr lang="en-US" sz="674" dirty="0"/>
          </a:p>
        </p:txBody>
      </p:sp>
      <p:sp>
        <p:nvSpPr>
          <p:cNvPr id="27" name="Shape 23"/>
          <p:cNvSpPr/>
          <p:nvPr/>
        </p:nvSpPr>
        <p:spPr>
          <a:xfrm>
            <a:off x="6143625" y="1688771"/>
            <a:ext cx="2571750" cy="1434108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143625" y="1688771"/>
            <a:ext cx="28575" cy="1419820"/>
          </a:xfrm>
          <a:prstGeom prst="rect">
            <a:avLst/>
          </a:prstGeom>
          <a:solidFill>
            <a:srgbClr val="A0AEC0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219" y="1867365"/>
            <a:ext cx="2214563" cy="17145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322219" y="2145971"/>
            <a:ext cx="2214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NATIONAL OVERSIGHT</a:t>
            </a:r>
            <a:endParaRPr lang="en-US" sz="885" dirty="0"/>
          </a:p>
        </p:txBody>
      </p:sp>
      <p:sp>
        <p:nvSpPr>
          <p:cNvPr id="31" name="Text 26"/>
          <p:cNvSpPr/>
          <p:nvPr/>
        </p:nvSpPr>
        <p:spPr>
          <a:xfrm>
            <a:off x="6322219" y="2372785"/>
            <a:ext cx="221456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National Education Commission (NEC) advises the President on national policy, ensuring coherence across all provinces.</a:t>
            </a:r>
            <a:endParaRPr lang="en-US" sz="674" dirty="0"/>
          </a:p>
        </p:txBody>
      </p:sp>
      <p:sp>
        <p:nvSpPr>
          <p:cNvPr id="32" name="Shape 27"/>
          <p:cNvSpPr/>
          <p:nvPr/>
        </p:nvSpPr>
        <p:spPr>
          <a:xfrm>
            <a:off x="3357563" y="3337192"/>
            <a:ext cx="2571750" cy="1434108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357563" y="3337192"/>
            <a:ext cx="28575" cy="1419820"/>
          </a:xfrm>
          <a:prstGeom prst="rect">
            <a:avLst/>
          </a:prstGeom>
          <a:solidFill>
            <a:srgbClr val="A0AEC0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156" y="3515785"/>
            <a:ext cx="2214563" cy="17145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3536156" y="3794392"/>
            <a:ext cx="2214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ADMINISTRATIVE SERVICE</a:t>
            </a:r>
            <a:endParaRPr lang="en-US" sz="885" dirty="0"/>
          </a:p>
        </p:txBody>
      </p:sp>
      <p:sp>
        <p:nvSpPr>
          <p:cNvPr id="36" name="Text 30"/>
          <p:cNvSpPr/>
          <p:nvPr/>
        </p:nvSpPr>
        <p:spPr>
          <a:xfrm>
            <a:off x="3536156" y="4021206"/>
            <a:ext cx="221456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The Sri Lanka Education Administrative Service (SLEAS) governs the appointment and career management of Zonal Directors and high-level officials.</a:t>
            </a:r>
            <a:endParaRPr lang="en-US" sz="674" dirty="0"/>
          </a:p>
        </p:txBody>
      </p:sp>
      <p:sp>
        <p:nvSpPr>
          <p:cNvPr id="37" name="Shape 31"/>
          <p:cNvSpPr/>
          <p:nvPr/>
        </p:nvSpPr>
        <p:spPr>
          <a:xfrm>
            <a:off x="6143625" y="3337192"/>
            <a:ext cx="2571750" cy="1434108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143625" y="3330411"/>
            <a:ext cx="28575" cy="1419820"/>
          </a:xfrm>
          <a:prstGeom prst="rect">
            <a:avLst/>
          </a:prstGeom>
          <a:solidFill>
            <a:srgbClr val="A0AEC0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219" y="3509004"/>
            <a:ext cx="2214563" cy="17145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6322219" y="3787611"/>
            <a:ext cx="22145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POLITICAL CONTEXT</a:t>
            </a:r>
            <a:endParaRPr lang="en-US" sz="885" dirty="0"/>
          </a:p>
        </p:txBody>
      </p:sp>
      <p:sp>
        <p:nvSpPr>
          <p:cNvPr id="41" name="Text 34"/>
          <p:cNvSpPr/>
          <p:nvPr/>
        </p:nvSpPr>
        <p:spPr>
          <a:xfrm>
            <a:off x="6322219" y="4014425"/>
            <a:ext cx="221456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Ongoing political debate continues regarding the effectiveness of the Provincial Council system and the extent of devolved powers.</a:t>
            </a:r>
            <a:endParaRPr lang="en-US" sz="67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542925"/>
            <a:ext cx="9144000" cy="28575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19670"/>
            <a:ext cx="678656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CONCLUSION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8579644" y="219670"/>
            <a:ext cx="1357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F5F7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13</a:t>
            </a:r>
            <a:endParaRPr lang="en-US" sz="727" dirty="0"/>
          </a:p>
        </p:txBody>
      </p:sp>
      <p:sp>
        <p:nvSpPr>
          <p:cNvPr id="7" name="Shape 4"/>
          <p:cNvSpPr/>
          <p:nvPr/>
        </p:nvSpPr>
        <p:spPr>
          <a:xfrm>
            <a:off x="0" y="571500"/>
            <a:ext cx="9144000" cy="2786063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8" name="Shape 5"/>
          <p:cNvSpPr/>
          <p:nvPr/>
        </p:nvSpPr>
        <p:spPr>
          <a:xfrm>
            <a:off x="0" y="571500"/>
            <a:ext cx="9144000" cy="2786063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188" y="1192476"/>
            <a:ext cx="355625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6651" y="1863989"/>
            <a:ext cx="7010698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THE LINCHPIN OF THE SYSTEM</a:t>
            </a:r>
            <a:endParaRPr lang="en-US" sz="3294" dirty="0"/>
          </a:p>
        </p:txBody>
      </p:sp>
      <p:sp>
        <p:nvSpPr>
          <p:cNvPr id="11" name="Text 7"/>
          <p:cNvSpPr/>
          <p:nvPr/>
        </p:nvSpPr>
        <p:spPr>
          <a:xfrm>
            <a:off x="2241352" y="2509772"/>
            <a:ext cx="46612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A0AEC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Translating National Policy into Local Action</a:t>
            </a:r>
            <a:endParaRPr lang="en-US" sz="1269" dirty="0"/>
          </a:p>
        </p:txBody>
      </p:sp>
      <p:sp>
        <p:nvSpPr>
          <p:cNvPr id="12" name="Shape 8"/>
          <p:cNvSpPr/>
          <p:nvPr/>
        </p:nvSpPr>
        <p:spPr>
          <a:xfrm>
            <a:off x="0" y="3357563"/>
            <a:ext cx="9144000" cy="1785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0" y="3357563"/>
            <a:ext cx="9144000" cy="28575"/>
          </a:xfrm>
          <a:prstGeom prst="rect">
            <a:avLst/>
          </a:prstGeom>
          <a:solidFill>
            <a:srgbClr val="3182C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3661172"/>
            <a:ext cx="100040" cy="128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0103" y="3643313"/>
            <a:ext cx="77255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VITAL LINK</a:t>
            </a:r>
            <a:endParaRPr lang="en-US" sz="987" dirty="0"/>
          </a:p>
        </p:txBody>
      </p:sp>
      <p:sp>
        <p:nvSpPr>
          <p:cNvPr id="16" name="Text 11"/>
          <p:cNvSpPr/>
          <p:nvPr/>
        </p:nvSpPr>
        <p:spPr>
          <a:xfrm>
            <a:off x="428625" y="3914775"/>
            <a:ext cx="257175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Zonal Education Offices are the essential bridge connecting the Ministry and Provincial Departments to the island's 10,194 schools, ensuring policy reaches the classroom.</a:t>
            </a:r>
            <a:endParaRPr lang="en-US" sz="674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581" y="3661172"/>
            <a:ext cx="100040" cy="128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79059" y="3643313"/>
            <a:ext cx="120397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QUALITY DRIVER</a:t>
            </a:r>
            <a:endParaRPr lang="en-US" sz="987" dirty="0"/>
          </a:p>
        </p:txBody>
      </p:sp>
      <p:sp>
        <p:nvSpPr>
          <p:cNvPr id="19" name="Text 13"/>
          <p:cNvSpPr/>
          <p:nvPr/>
        </p:nvSpPr>
        <p:spPr>
          <a:xfrm>
            <a:off x="3507581" y="3914775"/>
            <a:ext cx="2350294" cy="742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Through direct supervision, teacher management, and resource allocation, ZEOs have the most immediate administrative impact on educational quality and student outcomes.</a:t>
            </a:r>
            <a:endParaRPr lang="en-US" sz="674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081" y="3661172"/>
            <a:ext cx="100040" cy="128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36559" y="3643313"/>
            <a:ext cx="111914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FUTURE FOCUS</a:t>
            </a:r>
            <a:endParaRPr lang="en-US" sz="987" dirty="0"/>
          </a:p>
        </p:txBody>
      </p:sp>
      <p:sp>
        <p:nvSpPr>
          <p:cNvPr id="22" name="Text 15"/>
          <p:cNvSpPr/>
          <p:nvPr/>
        </p:nvSpPr>
        <p:spPr>
          <a:xfrm>
            <a:off x="6365081" y="3914775"/>
            <a:ext cx="2350294" cy="742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A556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Strengthening ZEO capacity through modernization, training, and reduced politicization is synonymous with strengthening the entire Sri Lankan education system.</a:t>
            </a:r>
            <a:endParaRPr lang="en-US" sz="67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2026-02-28T18:17:51Z</dcterms:created>
  <dcterms:modified xsi:type="dcterms:W3CDTF">2026-02-28T18:17:51Z</dcterms:modified>
</cp:coreProperties>
</file>